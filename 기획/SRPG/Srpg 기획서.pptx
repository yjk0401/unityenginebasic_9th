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9" r:id="rId1"/>
  </p:sldMasterIdLst>
  <p:notesMasterIdLst>
    <p:notesMasterId r:id="rId15"/>
  </p:notesMasterIdLst>
  <p:handoutMasterIdLst>
    <p:handoutMasterId r:id="rId16"/>
  </p:handoutMasterIdLst>
  <p:sldIdLst>
    <p:sldId id="256" r:id="rId2"/>
    <p:sldId id="386" r:id="rId3"/>
    <p:sldId id="403" r:id="rId4"/>
    <p:sldId id="404" r:id="rId5"/>
    <p:sldId id="408" r:id="rId6"/>
    <p:sldId id="405" r:id="rId7"/>
    <p:sldId id="410" r:id="rId8"/>
    <p:sldId id="407" r:id="rId9"/>
    <p:sldId id="409" r:id="rId10"/>
    <p:sldId id="411" r:id="rId11"/>
    <p:sldId id="393" r:id="rId12"/>
    <p:sldId id="391" r:id="rId13"/>
    <p:sldId id="39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pos="3825">
          <p15:clr>
            <a:srgbClr val="A4A3A4"/>
          </p15:clr>
        </p15:guide>
        <p15:guide id="2" orient="horz" pos="2150">
          <p15:clr>
            <a:srgbClr val="A4A3A4"/>
          </p15:clr>
        </p15:guide>
        <p15:guide id="3" orient="horz" pos="907">
          <p15:clr>
            <a:srgbClr val="A4A3A4"/>
          </p15:clr>
        </p15:guide>
        <p15:guide id="4" orient="horz" pos="3988">
          <p15:clr>
            <a:srgbClr val="A4A3A4"/>
          </p15:clr>
        </p15:guide>
        <p15:guide id="5" pos="209">
          <p15:clr>
            <a:srgbClr val="A4A3A4"/>
          </p15:clr>
        </p15:guide>
        <p15:guide id="6" pos="7445">
          <p15:clr>
            <a:srgbClr val="A4A3A4"/>
          </p15:clr>
        </p15:guide>
        <p15:guide id="7" orient="horz" pos="11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548235"/>
    <a:srgbClr val="FF8585"/>
    <a:srgbClr val="7F7F7F"/>
    <a:srgbClr val="2F5597"/>
    <a:srgbClr val="C55A11"/>
    <a:srgbClr val="F8CBAD"/>
    <a:srgbClr val="BDD7EE"/>
    <a:srgbClr val="7C7C7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0" autoAdjust="0"/>
    <p:restoredTop sz="96279" autoAdjust="0"/>
  </p:normalViewPr>
  <p:slideViewPr>
    <p:cSldViewPr snapToGrid="0" snapToObjects="1" showGuides="1">
      <p:cViewPr varScale="1">
        <p:scale>
          <a:sx n="74" d="100"/>
          <a:sy n="74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9" d="100"/>
          <a:sy n="79" d="100"/>
        </p:scale>
        <p:origin x="2550" y="102"/>
      </p:cViewPr>
      <p:guideLst>
        <p:guide pos="3825"/>
        <p:guide orient="horz" pos="2150"/>
        <p:guide orient="horz" pos="907"/>
        <p:guide orient="horz" pos="3988"/>
        <p:guide pos="209"/>
        <p:guide pos="7445"/>
        <p:guide orient="horz" pos="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693312"/>
      </p:ext>
    </p:extLst>
  </p:cSld>
  <p:clrMapOvr>
    <a:masterClrMapping/>
  </p:clrMapOvr>
  <p:hf ftr="0" dt="0"/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799" userDrawn="1">
          <p15:clr>
            <a:srgbClr val="FBAE40"/>
          </p15:clr>
        </p15:guide>
        <p15:guide id="7" orient="horz" pos="2364" userDrawn="1">
          <p15:clr>
            <a:srgbClr val="FBAE40"/>
          </p15:clr>
        </p15:guide>
        <p15:guide id="8" pos="211" userDrawn="1">
          <p15:clr>
            <a:srgbClr val="FBAE40"/>
          </p15:clr>
        </p15:guide>
        <p15:guide id="9" pos="7242" userDrawn="1">
          <p15:clr>
            <a:srgbClr val="FBAE40"/>
          </p15:clr>
        </p15:guide>
        <p15:guide id="10" pos="746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6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301251"/>
      </p:ext>
    </p:extLst>
  </p:cSld>
  <p:clrMapOvr>
    <a:masterClrMapping/>
  </p:clrMapOvr>
  <p:hf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761843"/>
      </p:ext>
    </p:extLst>
  </p:cSld>
  <p:clrMapOvr>
    <a:masterClrMapping/>
  </p:clrMapOvr>
  <p:hf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523452"/>
      </p:ext>
    </p:extLst>
  </p:cSld>
  <p:clrMapOvr>
    <a:masterClrMapping/>
  </p:clrMapOvr>
  <p:hf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994702"/>
      </p:ext>
    </p:extLst>
  </p:cSld>
  <p:clrMapOvr>
    <a:masterClrMapping/>
  </p:clrMapOvr>
  <p:hf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582914"/>
      </p:ext>
    </p:extLst>
  </p:cSld>
  <p:clrMapOvr>
    <a:masterClrMapping/>
  </p:clrMapOvr>
  <p:hf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696493"/>
      </p:ext>
    </p:extLst>
  </p:cSld>
  <p:clrMapOvr>
    <a:masterClrMapping/>
  </p:clrMapOvr>
  <p:hf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151228"/>
      </p:ext>
    </p:extLst>
  </p:cSld>
  <p:clrMapOvr>
    <a:masterClrMapping/>
  </p:clrMapOvr>
  <p:hf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4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452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904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096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47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322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923643"/>
      </p:ext>
    </p:extLst>
  </p:cSld>
  <p:clrMapOvr>
    <a:masterClrMapping/>
  </p:clrMapOvr>
  <p:hf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841388"/>
      </p:ext>
    </p:extLst>
  </p:cSld>
  <p:clrMapOvr>
    <a:masterClrMapping/>
  </p:clrMapOvr>
  <p:hf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en-GB" altLang="en-US" smtClean="0"/>
              <a:t>13/04/2026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699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20" r:id="rId1"/>
    <p:sldLayoutId id="2147484421" r:id="rId2"/>
    <p:sldLayoutId id="2147484422" r:id="rId3"/>
    <p:sldLayoutId id="2147484423" r:id="rId4"/>
    <p:sldLayoutId id="2147484424" r:id="rId5"/>
    <p:sldLayoutId id="2147484425" r:id="rId6"/>
    <p:sldLayoutId id="2147484426" r:id="rId7"/>
    <p:sldLayoutId id="2147484427" r:id="rId8"/>
    <p:sldLayoutId id="2147484428" r:id="rId9"/>
    <p:sldLayoutId id="2147484429" r:id="rId10"/>
    <p:sldLayoutId id="2147484430" r:id="rId11"/>
    <p:sldLayoutId id="2147484431" r:id="rId12"/>
    <p:sldLayoutId id="2147484432" r:id="rId13"/>
    <p:sldLayoutId id="2147484433" r:id="rId14"/>
    <p:sldLayoutId id="2147484434" r:id="rId15"/>
    <p:sldLayoutId id="2147484435" r:id="rId16"/>
    <p:sldLayoutId id="2147484436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4377625" y="963507"/>
            <a:ext cx="6849344" cy="4995027"/>
          </a:xfrm>
          <a:prstGeom prst="rect">
            <a:avLst/>
          </a:prstGeom>
        </p:spPr>
        <p:txBody>
          <a:bodyPr vert="horz" lIns="91440" tIns="45720" rIns="91440" bIns="45720" numCol="1" anchor="ctr">
            <a:normAutofit/>
          </a:bodyPr>
          <a:lstStyle/>
          <a:p>
            <a:pPr marL="0" indent="0" algn="l" latinLnBrk="0">
              <a:buFontTx/>
              <a:buNone/>
            </a:pPr>
            <a:r>
              <a:rPr lang="en-US" altLang="ko-KR" sz="5200"/>
              <a:t>SRPG</a:t>
            </a:r>
            <a:br>
              <a:rPr lang="en-US" altLang="ko-KR" sz="5200"/>
            </a:br>
            <a:r>
              <a:rPr lang="ko-KR" altLang="en-US" sz="5200"/>
              <a:t>메인 기획서</a:t>
            </a: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965031" y="957287"/>
            <a:ext cx="2760795" cy="4995027"/>
          </a:xfrm>
          <a:prstGeom prst="rect">
            <a:avLst/>
          </a:prstGeom>
        </p:spPr>
        <p:txBody>
          <a:bodyPr vert="horz" lIns="91440" tIns="45720" rIns="91440" bIns="45720" numCol="1" anchor="ctr">
            <a:normAutofit/>
          </a:bodyPr>
          <a:lstStyle/>
          <a:p>
            <a:pPr marL="0" indent="0" algn="r" latinLnBrk="0">
              <a:spcAft>
                <a:spcPts val="600"/>
              </a:spcAft>
              <a:buFontTx/>
              <a:buNone/>
            </a:pPr>
            <a:r>
              <a:rPr lang="ko-KR" altLang="en-US"/>
              <a:t>윤정근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AEA7-79E3-502E-509C-DF5DDCA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36482B7-5B29-4FB0-B905-DE64440A732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문서 개요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2F9A2F9-1CAF-C3BA-5AA6-FD3D03D5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423488"/>
              </p:ext>
            </p:extLst>
          </p:nvPr>
        </p:nvGraphicFramePr>
        <p:xfrm>
          <a:off x="2032000" y="1450367"/>
          <a:ext cx="8127999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104">
                  <a:extLst>
                    <a:ext uri="{9D8B030D-6E8A-4147-A177-3AD203B41FA5}">
                      <a16:colId xmlns:a16="http://schemas.microsoft.com/office/drawing/2014/main" val="3197326769"/>
                    </a:ext>
                  </a:extLst>
                </a:gridCol>
                <a:gridCol w="7205895">
                  <a:extLst>
                    <a:ext uri="{9D8B030D-6E8A-4147-A177-3AD203B41FA5}">
                      <a16:colId xmlns:a16="http://schemas.microsoft.com/office/drawing/2014/main" val="2004341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타이틀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17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턴제 전략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RPG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00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2063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6ED132-5907-64A4-E0E1-8B44936F8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3269"/>
              </p:ext>
            </p:extLst>
          </p:nvPr>
        </p:nvGraphicFramePr>
        <p:xfrm>
          <a:off x="2032000" y="3064982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246587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66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게임은 플레이어가 길드의 마스터가 되어 다양한 유닛을 획득 및 육성하고 기물들에게 명령하여 다양한 목표를 달성하는 게임이다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6138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2A1F780-8415-302F-A40C-C54B86A4C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8418"/>
              </p:ext>
            </p:extLst>
          </p:nvPr>
        </p:nvGraphicFramePr>
        <p:xfrm>
          <a:off x="2032000" y="4396713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246587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66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챕터 및 지역별로 배치된 스테이지를 모두 클리어하고 등장하는 최종 스테이지를 클리어하는 것이 해당 게임의 목표다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6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38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1815-5239-059D-D574-C15CCDF4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0E93453-BC7B-5203-DA4F-079C5AE3912D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게임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전투 진행 방식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69AEEB-3BE8-A2F3-137E-D79FE944A331}"/>
              </a:ext>
            </a:extLst>
          </p:cNvPr>
          <p:cNvSpPr/>
          <p:nvPr/>
        </p:nvSpPr>
        <p:spPr>
          <a:xfrm>
            <a:off x="5229437" y="1415262"/>
            <a:ext cx="6267238" cy="186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해당 게임의 전투는 양측의 턴을 순차적으로 진행하며</a:t>
            </a:r>
            <a:r>
              <a:rPr lang="en-US" altLang="ko-KR" dirty="0"/>
              <a:t>, </a:t>
            </a:r>
            <a:r>
              <a:rPr lang="ko-KR" altLang="en-US" dirty="0"/>
              <a:t>양측은 서로의 </a:t>
            </a:r>
            <a:r>
              <a:rPr lang="en-US" altLang="ko-KR" dirty="0"/>
              <a:t>OP(Order Point)</a:t>
            </a:r>
            <a:r>
              <a:rPr lang="ko-KR" altLang="en-US" dirty="0"/>
              <a:t>를 사용하여 유닛에게 이동</a:t>
            </a:r>
            <a:r>
              <a:rPr lang="en-US" altLang="ko-KR" dirty="0"/>
              <a:t>, </a:t>
            </a:r>
            <a:r>
              <a:rPr lang="ko-KR" altLang="en-US" dirty="0"/>
              <a:t>공격</a:t>
            </a:r>
            <a:r>
              <a:rPr lang="en-US" altLang="ko-KR" dirty="0"/>
              <a:t>, </a:t>
            </a:r>
            <a:r>
              <a:rPr lang="ko-KR" altLang="en-US" dirty="0"/>
              <a:t>방어 등의 명령을 내려 조작한다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30F5549-6D09-E744-B855-D06F523E3E8F}"/>
              </a:ext>
            </a:extLst>
          </p:cNvPr>
          <p:cNvSpPr/>
          <p:nvPr/>
        </p:nvSpPr>
        <p:spPr>
          <a:xfrm>
            <a:off x="1017141" y="4029593"/>
            <a:ext cx="3236359" cy="18698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전투 장면 예시</a:t>
            </a:r>
            <a:endParaRPr lang="en-US" altLang="ko-KR" dirty="0"/>
          </a:p>
          <a:p>
            <a:pPr algn="ctr"/>
            <a:r>
              <a:rPr lang="ko-KR" altLang="en-US" dirty="0"/>
              <a:t>공격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E0F7545-6708-C102-1CF9-E239B2FC8D73}"/>
              </a:ext>
            </a:extLst>
          </p:cNvPr>
          <p:cNvSpPr/>
          <p:nvPr/>
        </p:nvSpPr>
        <p:spPr>
          <a:xfrm>
            <a:off x="4638728" y="4029594"/>
            <a:ext cx="3236359" cy="18698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이동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B781F4C-6B57-AB4F-980B-D6C92F23D163}"/>
              </a:ext>
            </a:extLst>
          </p:cNvPr>
          <p:cNvSpPr/>
          <p:nvPr/>
        </p:nvSpPr>
        <p:spPr>
          <a:xfrm>
            <a:off x="8260316" y="4029594"/>
            <a:ext cx="3236359" cy="18698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3869C6-81F9-482A-B570-06F3CA0A8628}"/>
              </a:ext>
            </a:extLst>
          </p:cNvPr>
          <p:cNvSpPr/>
          <p:nvPr/>
        </p:nvSpPr>
        <p:spPr>
          <a:xfrm>
            <a:off x="1017141" y="1524271"/>
            <a:ext cx="2356834" cy="62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턴 관련 이미지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B3D3B6-3CF7-423E-B3FE-7F7334EAFA5E}"/>
              </a:ext>
            </a:extLst>
          </p:cNvPr>
          <p:cNvSpPr/>
          <p:nvPr/>
        </p:nvSpPr>
        <p:spPr>
          <a:xfrm>
            <a:off x="2195558" y="2514207"/>
            <a:ext cx="2356834" cy="62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Op(Order Point) </a:t>
            </a:r>
            <a:r>
              <a:rPr lang="ko-KR" altLang="en-US" dirty="0"/>
              <a:t>이미지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200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A926-6C26-4FF9-C019-4B6375F1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9EA5768-6ED3-82EA-44B9-3AB44FABEAFD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게임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필드 구성 요소</a:t>
            </a:r>
            <a:endParaRPr lang="en-US" altLang="ko-KR" sz="240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F5A4942-A8B4-AC00-29A6-5C2FBE4DFD0C}"/>
              </a:ext>
            </a:extLst>
          </p:cNvPr>
          <p:cNvSpPr/>
          <p:nvPr/>
        </p:nvSpPr>
        <p:spPr>
          <a:xfrm>
            <a:off x="3808577" y="2319569"/>
            <a:ext cx="4780908" cy="27623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02B82BF-717A-D480-736D-99C5D64FBB3C}"/>
              </a:ext>
            </a:extLst>
          </p:cNvPr>
          <p:cNvSpPr/>
          <p:nvPr/>
        </p:nvSpPr>
        <p:spPr>
          <a:xfrm>
            <a:off x="8260316" y="1384619"/>
            <a:ext cx="3236359" cy="18698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필드의 구성 요소를 하나씩 강조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B096A71-F70B-9439-48CE-71AB35AD184A}"/>
              </a:ext>
            </a:extLst>
          </p:cNvPr>
          <p:cNvSpPr/>
          <p:nvPr/>
        </p:nvSpPr>
        <p:spPr>
          <a:xfrm>
            <a:off x="469187" y="3429000"/>
            <a:ext cx="3236359" cy="18698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필드의 구성 요소를 하나씩 강조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5914F3-1FE3-8362-EBC9-4E2F3E6B6AD2}"/>
              </a:ext>
            </a:extLst>
          </p:cNvPr>
          <p:cNvSpPr/>
          <p:nvPr/>
        </p:nvSpPr>
        <p:spPr>
          <a:xfrm>
            <a:off x="8003138" y="4400188"/>
            <a:ext cx="3236359" cy="18698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필드의 구성 요소를 하나씩 강조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2532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FBE7-7F2D-7A73-EAE4-5F812929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C4E7F97-F8D1-D590-34EC-B0B5B0AD6C9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다이스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개요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946347-9189-E64E-358A-9CA54689CB61}"/>
              </a:ext>
            </a:extLst>
          </p:cNvPr>
          <p:cNvSpPr/>
          <p:nvPr/>
        </p:nvSpPr>
        <p:spPr>
          <a:xfrm>
            <a:off x="2962381" y="3948381"/>
            <a:ext cx="6267238" cy="18154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다이스 시스템이란 이동을 제외한 명령을 수행할 경우 주사위를 굴려 해당 명령에 대한 결과 값이 바뀌게 되는 시스템이다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2D832F9-39C5-2D7B-16F8-CC5EDE3C6A57}"/>
              </a:ext>
            </a:extLst>
          </p:cNvPr>
          <p:cNvSpPr/>
          <p:nvPr/>
        </p:nvSpPr>
        <p:spPr>
          <a:xfrm>
            <a:off x="4679021" y="1587768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다이스 이미지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CA44947-349D-DD41-BD7E-3CBBA40538F1}"/>
              </a:ext>
            </a:extLst>
          </p:cNvPr>
          <p:cNvSpPr/>
          <p:nvPr/>
        </p:nvSpPr>
        <p:spPr>
          <a:xfrm>
            <a:off x="7858016" y="1587768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다이스 값에</a:t>
            </a:r>
            <a:endParaRPr lang="en-US" altLang="ko-KR" sz="1600" dirty="0"/>
          </a:p>
          <a:p>
            <a:pPr algn="ctr"/>
            <a:r>
              <a:rPr lang="ko-KR" altLang="en-US" sz="1600" dirty="0"/>
              <a:t>대한 결과 이미지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BED256E-8B9E-F340-6F11-1B6034684959}"/>
              </a:ext>
            </a:extLst>
          </p:cNvPr>
          <p:cNvSpPr/>
          <p:nvPr/>
        </p:nvSpPr>
        <p:spPr>
          <a:xfrm>
            <a:off x="1500026" y="1674687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스킬 이미지</a:t>
            </a:r>
          </a:p>
        </p:txBody>
      </p:sp>
    </p:spTree>
    <p:extLst>
      <p:ext uri="{BB962C8B-B14F-4D97-AF65-F5344CB8AC3E}">
        <p14:creationId xmlns:p14="http://schemas.microsoft.com/office/powerpoint/2010/main" val="359650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4280-05FA-ECFB-C5EE-71B4538D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8D474F4-94DA-2633-4D1A-47DAB594C9DD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다이스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다이스의 종류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44CC9D-1B1D-7562-521C-AEDA76A6864E}"/>
              </a:ext>
            </a:extLst>
          </p:cNvPr>
          <p:cNvSpPr/>
          <p:nvPr/>
        </p:nvSpPr>
        <p:spPr>
          <a:xfrm>
            <a:off x="2962380" y="3910206"/>
            <a:ext cx="6267238" cy="186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다이스는 크게 코인</a:t>
            </a:r>
            <a:r>
              <a:rPr lang="en-US" altLang="ko-KR" dirty="0"/>
              <a:t>, </a:t>
            </a:r>
            <a:r>
              <a:rPr lang="ko-KR" altLang="en-US" dirty="0"/>
              <a:t>삼각 기둥</a:t>
            </a:r>
            <a:r>
              <a:rPr lang="en-US" altLang="ko-KR" dirty="0"/>
              <a:t>, </a:t>
            </a:r>
            <a:r>
              <a:rPr lang="ko-KR" altLang="en-US" dirty="0"/>
              <a:t>정사면체</a:t>
            </a:r>
            <a:r>
              <a:rPr lang="en-US" altLang="ko-KR" dirty="0"/>
              <a:t>, </a:t>
            </a:r>
            <a:r>
              <a:rPr lang="ko-KR" altLang="en-US" dirty="0"/>
              <a:t>정육면체</a:t>
            </a:r>
            <a:r>
              <a:rPr lang="en-US" altLang="ko-KR" dirty="0"/>
              <a:t>, </a:t>
            </a:r>
            <a:r>
              <a:rPr lang="ko-KR" altLang="en-US" dirty="0"/>
              <a:t>정십이면체가 있으며 각 다이스의 최대 값이 </a:t>
            </a:r>
            <a:r>
              <a:rPr lang="en-US" altLang="ko-KR" dirty="0"/>
              <a:t>12</a:t>
            </a:r>
            <a:r>
              <a:rPr lang="ko-KR" altLang="en-US" dirty="0"/>
              <a:t>가 되도록 개수가 정해져 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다이스는 종류에 따라 나올 수 있는 값의 범위와 확률에 차이가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91CD6DA-5997-75BF-18C2-5376086A524B}"/>
              </a:ext>
            </a:extLst>
          </p:cNvPr>
          <p:cNvSpPr/>
          <p:nvPr/>
        </p:nvSpPr>
        <p:spPr>
          <a:xfrm>
            <a:off x="1275008" y="1610401"/>
            <a:ext cx="1624402" cy="1337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다이스</a:t>
            </a:r>
            <a:endParaRPr lang="en-US" altLang="ko-KR" sz="1200" dirty="0"/>
          </a:p>
          <a:p>
            <a:pPr algn="ctr"/>
            <a:r>
              <a:rPr lang="ko-KR" altLang="en-US" sz="1200" dirty="0"/>
              <a:t>아이콘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C9D0674-2478-EDAF-B924-89F395FD610A}"/>
              </a:ext>
            </a:extLst>
          </p:cNvPr>
          <p:cNvSpPr/>
          <p:nvPr/>
        </p:nvSpPr>
        <p:spPr>
          <a:xfrm>
            <a:off x="3679158" y="1610401"/>
            <a:ext cx="1624402" cy="1337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다이스</a:t>
            </a:r>
            <a:endParaRPr lang="en-US" altLang="ko-KR" sz="1200" dirty="0"/>
          </a:p>
          <a:p>
            <a:pPr algn="ctr"/>
            <a:r>
              <a:rPr lang="ko-KR" altLang="en-US" sz="1200" dirty="0"/>
              <a:t>아이콘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48E9216-2003-84E6-6754-48993292852F}"/>
              </a:ext>
            </a:extLst>
          </p:cNvPr>
          <p:cNvSpPr/>
          <p:nvPr/>
        </p:nvSpPr>
        <p:spPr>
          <a:xfrm>
            <a:off x="5667209" y="1610401"/>
            <a:ext cx="1624402" cy="1337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다이스</a:t>
            </a:r>
            <a:endParaRPr lang="en-US" altLang="ko-KR" sz="1200" dirty="0"/>
          </a:p>
          <a:p>
            <a:pPr algn="ctr"/>
            <a:r>
              <a:rPr lang="ko-KR" altLang="en-US" sz="1200" dirty="0"/>
              <a:t>아이콘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E85E0BA-E720-DFF0-F4C2-EC5873FB4BFF}"/>
              </a:ext>
            </a:extLst>
          </p:cNvPr>
          <p:cNvSpPr/>
          <p:nvPr/>
        </p:nvSpPr>
        <p:spPr>
          <a:xfrm>
            <a:off x="7655260" y="1610401"/>
            <a:ext cx="1624402" cy="1337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다이스</a:t>
            </a:r>
            <a:endParaRPr lang="en-US" altLang="ko-KR" sz="1200" dirty="0"/>
          </a:p>
          <a:p>
            <a:pPr algn="ctr"/>
            <a:r>
              <a:rPr lang="ko-KR" altLang="en-US" sz="1200" dirty="0"/>
              <a:t>아이콘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7449222-69D9-B53A-5901-0030F9358B39}"/>
              </a:ext>
            </a:extLst>
          </p:cNvPr>
          <p:cNvSpPr/>
          <p:nvPr/>
        </p:nvSpPr>
        <p:spPr>
          <a:xfrm>
            <a:off x="9535426" y="1610401"/>
            <a:ext cx="1624402" cy="1337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다이스</a:t>
            </a:r>
            <a:endParaRPr lang="en-US" altLang="ko-KR" sz="1200" dirty="0"/>
          </a:p>
          <a:p>
            <a:pPr algn="ctr"/>
            <a:r>
              <a:rPr lang="ko-KR" altLang="en-US" sz="1200" dirty="0"/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47928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B7D8B-D1CD-722F-5352-EC92FE6F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B9C19B1-72E0-E6FA-5593-E112B412F03F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다이스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값 보정 시스템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44BFB0-468E-7FD1-9DDD-3879790BE64A}"/>
              </a:ext>
            </a:extLst>
          </p:cNvPr>
          <p:cNvSpPr/>
          <p:nvPr/>
        </p:nvSpPr>
        <p:spPr>
          <a:xfrm>
            <a:off x="2945259" y="4375899"/>
            <a:ext cx="6267238" cy="1064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값 보정 시스템이란 스킬을 시전하는 유닛이 보유한 보정치에 따라서 다이스 값의 최솟값을 해당 값으로 보정하거나 각 스킬이 대응할 경우 다이스 값이 보정치 범위 안에 포함될 경우 해당 값으로 보정하는 시스템이다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37EBCC0-5EEC-0783-D1CF-2A8B8DA5DB11}"/>
              </a:ext>
            </a:extLst>
          </p:cNvPr>
          <p:cNvSpPr/>
          <p:nvPr/>
        </p:nvSpPr>
        <p:spPr>
          <a:xfrm>
            <a:off x="2708952" y="1417833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최솟값 보정 이미지 및 공식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A477EA2-9D7E-2A4C-5795-3BFE87D1DDFA}"/>
              </a:ext>
            </a:extLst>
          </p:cNvPr>
          <p:cNvSpPr/>
          <p:nvPr/>
        </p:nvSpPr>
        <p:spPr>
          <a:xfrm>
            <a:off x="6904233" y="1417833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편차 보정</a:t>
            </a:r>
            <a:endParaRPr lang="en-US" altLang="ko-KR" sz="1600" dirty="0"/>
          </a:p>
          <a:p>
            <a:pPr algn="ctr"/>
            <a:r>
              <a:rPr lang="ko-KR" altLang="en-US" sz="1600" dirty="0"/>
              <a:t>이미지 및 공식</a:t>
            </a:r>
          </a:p>
        </p:txBody>
      </p:sp>
    </p:spTree>
    <p:extLst>
      <p:ext uri="{BB962C8B-B14F-4D97-AF65-F5344CB8AC3E}">
        <p14:creationId xmlns:p14="http://schemas.microsoft.com/office/powerpoint/2010/main" val="1978360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8673-340C-9A00-2914-5CC1498C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55A72BC-1969-B4CE-4FD3-4E848B8BEED0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대응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개요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FE62FF-05A2-7067-511F-E995C7F2D532}"/>
              </a:ext>
            </a:extLst>
          </p:cNvPr>
          <p:cNvSpPr/>
          <p:nvPr/>
        </p:nvSpPr>
        <p:spPr>
          <a:xfrm>
            <a:off x="2962380" y="3910206"/>
            <a:ext cx="6267238" cy="186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대응 시스템이란 적대 유닛의 공격 대상이 되었을 때 </a:t>
            </a:r>
            <a:r>
              <a:rPr lang="en-US" altLang="ko-KR" dirty="0"/>
              <a:t>OP </a:t>
            </a:r>
            <a:r>
              <a:rPr lang="ko-KR" altLang="en-US" dirty="0"/>
              <a:t>및 </a:t>
            </a:r>
            <a:r>
              <a:rPr lang="en-US" altLang="ko-KR" dirty="0"/>
              <a:t>DOP</a:t>
            </a:r>
            <a:r>
              <a:rPr lang="ko-KR" altLang="en-US" dirty="0"/>
              <a:t>를 소모하여 막거나 회피하는 등 대응하는 시스템이다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76F8D2D-8A3B-A46F-8431-AC62ED684604}"/>
              </a:ext>
            </a:extLst>
          </p:cNvPr>
          <p:cNvSpPr/>
          <p:nvPr/>
        </p:nvSpPr>
        <p:spPr>
          <a:xfrm>
            <a:off x="1417834" y="1560782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대응 시스템에 대한 예시 이미지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6691167-6E14-F79F-B407-F9233E19A653}"/>
              </a:ext>
            </a:extLst>
          </p:cNvPr>
          <p:cNvSpPr/>
          <p:nvPr/>
        </p:nvSpPr>
        <p:spPr>
          <a:xfrm>
            <a:off x="4806591" y="1560782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대응 시스템에 대한 예시 이미지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0CA8F3-C2E7-4D1A-DF08-CC6B7AA2EBC9}"/>
              </a:ext>
            </a:extLst>
          </p:cNvPr>
          <p:cNvSpPr/>
          <p:nvPr/>
        </p:nvSpPr>
        <p:spPr>
          <a:xfrm>
            <a:off x="7940210" y="1560782"/>
            <a:ext cx="2578815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대응 시스템에 대한 예시 이미지</a:t>
            </a:r>
          </a:p>
        </p:txBody>
      </p:sp>
    </p:spTree>
    <p:extLst>
      <p:ext uri="{BB962C8B-B14F-4D97-AF65-F5344CB8AC3E}">
        <p14:creationId xmlns:p14="http://schemas.microsoft.com/office/powerpoint/2010/main" val="385444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11E55-79FA-6AB1-C3E6-DBBE419F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14E72F-CDA6-9232-0976-BA2EEF4CC00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대응</a:t>
            </a:r>
            <a:r>
              <a:rPr lang="en-US" altLang="ko-KR" sz="3200" dirty="0"/>
              <a:t> </a:t>
            </a:r>
            <a:r>
              <a:rPr lang="ko-KR" altLang="en-US" sz="3200" dirty="0"/>
              <a:t>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대응의 종류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EC0C48-5688-2026-FC96-4771E1D70F2D}"/>
              </a:ext>
            </a:extLst>
          </p:cNvPr>
          <p:cNvSpPr/>
          <p:nvPr/>
        </p:nvSpPr>
        <p:spPr>
          <a:xfrm>
            <a:off x="2962380" y="3910206"/>
            <a:ext cx="6267238" cy="186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 대응에 따른 장단점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9CF0DC-FB06-D2D3-27D0-49E3B70B2E54}"/>
              </a:ext>
            </a:extLst>
          </p:cNvPr>
          <p:cNvSpPr/>
          <p:nvPr/>
        </p:nvSpPr>
        <p:spPr>
          <a:xfrm>
            <a:off x="1717497" y="1560782"/>
            <a:ext cx="1654138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막기 이미지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88BC2E9-B307-E186-09D5-718DD11C70F4}"/>
              </a:ext>
            </a:extLst>
          </p:cNvPr>
          <p:cNvSpPr/>
          <p:nvPr/>
        </p:nvSpPr>
        <p:spPr>
          <a:xfrm>
            <a:off x="2962380" y="1560782"/>
            <a:ext cx="1654138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회피 이미지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BFD447E-A945-7ABE-3267-B8BB353E16DB}"/>
              </a:ext>
            </a:extLst>
          </p:cNvPr>
          <p:cNvSpPr/>
          <p:nvPr/>
        </p:nvSpPr>
        <p:spPr>
          <a:xfrm>
            <a:off x="4207263" y="1560782"/>
            <a:ext cx="1654138" cy="138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반격</a:t>
            </a:r>
            <a:endParaRPr lang="en-US" altLang="ko-KR" sz="1600" dirty="0"/>
          </a:p>
          <a:p>
            <a:pPr algn="ctr"/>
            <a:r>
              <a:rPr lang="ko-KR" altLang="en-US" sz="1600" dirty="0"/>
              <a:t>이미지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5130C8-D9CE-240C-EFC8-AF677BD4ED51}"/>
              </a:ext>
            </a:extLst>
          </p:cNvPr>
          <p:cNvSpPr/>
          <p:nvPr/>
        </p:nvSpPr>
        <p:spPr>
          <a:xfrm>
            <a:off x="6697029" y="1442184"/>
            <a:ext cx="4498361" cy="16242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받아치기 예시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5130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11E55-79FA-6AB1-C3E6-DBBE419F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214E72F-CDA6-9232-0976-BA2EEF4CC00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대응 시스템 </a:t>
            </a:r>
            <a:r>
              <a:rPr lang="en-US" altLang="ko-KR" sz="3200" dirty="0"/>
              <a:t>– </a:t>
            </a:r>
            <a:r>
              <a:rPr lang="ko-KR" altLang="en-US" sz="2400" dirty="0"/>
              <a:t>퍼펙트 가드 시스템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EC0C48-5688-2026-FC96-4771E1D70F2D}"/>
              </a:ext>
            </a:extLst>
          </p:cNvPr>
          <p:cNvSpPr/>
          <p:nvPr/>
        </p:nvSpPr>
        <p:spPr>
          <a:xfrm>
            <a:off x="2962380" y="3429000"/>
            <a:ext cx="6267238" cy="186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퍼펙트 가드 시스템이란 공격을 막기</a:t>
            </a:r>
            <a:r>
              <a:rPr lang="en-US" altLang="ko-KR" dirty="0"/>
              <a:t>,</a:t>
            </a:r>
            <a:r>
              <a:rPr lang="ko-KR" altLang="en-US" dirty="0"/>
              <a:t> 회피 등으로 대응할 때 적대 유닛과  대응 유닛의 다이스 값이 같을 경우 이로운 추가 효과가 적용되는 시스템이다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5130C8-D9CE-240C-EFC8-AF677BD4ED51}"/>
              </a:ext>
            </a:extLst>
          </p:cNvPr>
          <p:cNvSpPr/>
          <p:nvPr/>
        </p:nvSpPr>
        <p:spPr>
          <a:xfrm>
            <a:off x="3846818" y="1287454"/>
            <a:ext cx="4498361" cy="16242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퍼펙트 가드 예시 이미지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58664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B137-5013-C065-65C8-95A22E6B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AF677B3-E13A-0296-BD1B-A02F0FFB9CDA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합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규칙 및 상세 설명</a:t>
            </a:r>
            <a:endParaRPr lang="en-US" altLang="ko-KR" sz="240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D0B8D64-DC90-5EEF-1051-6C751C4AAE9B}"/>
              </a:ext>
            </a:extLst>
          </p:cNvPr>
          <p:cNvGraphicFramePr>
            <a:graphicFrameLocks noGrp="1"/>
          </p:cNvGraphicFramePr>
          <p:nvPr/>
        </p:nvGraphicFramePr>
        <p:xfrm>
          <a:off x="1480978" y="1456266"/>
          <a:ext cx="923004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0043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합 시도 조건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방어자가 공격자의 스킬 타겟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광역 스킬일 경우 메인 타겟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이거나 방어자의 속도가 공격자의 속도 보다 높아야 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스킬과 수비 스킬은 특수한 경우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가능 반격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가능 방어 스킬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제외하면 합을 할 수 없다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41806"/>
                  </a:ext>
                </a:extLst>
              </a:tr>
            </a:tbl>
          </a:graphicData>
        </a:graphic>
      </p:graphicFrame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9330A22A-8422-8056-8956-B5FB4FBDAD22}"/>
              </a:ext>
            </a:extLst>
          </p:cNvPr>
          <p:cNvGraphicFramePr>
            <a:graphicFrameLocks noGrp="1"/>
          </p:cNvGraphicFramePr>
          <p:nvPr/>
        </p:nvGraphicFramePr>
        <p:xfrm>
          <a:off x="1480978" y="2308012"/>
          <a:ext cx="923004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0043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합 진행 규칙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진행 중 방어자 또는 공격자가 행동 불능 상태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패닉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흐트러짐 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따질 경우 합을 종료한다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진행 시 코인 시스템으로 방어자와 공격자의 스킬 위력을 계산한다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4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방어자와 공격자의 스킬 위력이 같을 경우 합을 무승부로 판정하고 합 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35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방어자와 공격자의 스킬 위력이 다를 경우 스킬 위력이 낮은 쪽의 코인을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 파괴하고 합 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파괴 불가 코인의 경우 합 패배 시 깨진 코인으로 변경 및 파괴된 것으로 판정한다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09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방어자와 공격자 둘 중에 한쪽의 코인이 모두 파괴될 때까지 합을 반복한다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543556"/>
                  </a:ext>
                </a:extLst>
              </a:tr>
            </a:tbl>
          </a:graphicData>
        </a:graphic>
      </p:graphicFrame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7C7C009A-860E-A573-7E22-E083F1198C74}"/>
              </a:ext>
            </a:extLst>
          </p:cNvPr>
          <p:cNvGraphicFramePr>
            <a:graphicFrameLocks noGrp="1"/>
          </p:cNvGraphicFramePr>
          <p:nvPr/>
        </p:nvGraphicFramePr>
        <p:xfrm>
          <a:off x="1480978" y="4167294"/>
          <a:ext cx="923004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0043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합 종료 규칙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방어자와 공격자 둘 중에 한쪽의 코인이 모두 파괴되면 합을 종료한다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200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종료 후 남은 코인의 개수에 따라서 스킬을 진행한다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진행 시 합을 진행한 숫자에 비례하여 스킬의 피해량이 증가한다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진행한 합 횟수 당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418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D7FB080-3A4A-B3CA-6605-FCA02EE278EE}"/>
              </a:ext>
            </a:extLst>
          </p:cNvPr>
          <p:cNvSpPr txBox="1"/>
          <p:nvPr/>
        </p:nvSpPr>
        <p:spPr>
          <a:xfrm>
            <a:off x="1480978" y="547335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코인 시스템 </a:t>
            </a:r>
            <a:r>
              <a:rPr lang="en-US" altLang="ko-KR" sz="1000" dirty="0"/>
              <a:t>: Limbus Company</a:t>
            </a:r>
            <a:r>
              <a:rPr lang="ko-KR" altLang="en-US" sz="1000" dirty="0"/>
              <a:t>의 모든 스킬은 코인을 가지고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스킬 진행 시 코인 토스를 진행하고</a:t>
            </a:r>
            <a:r>
              <a:rPr lang="en-US" altLang="ko-KR" sz="1000" dirty="0"/>
              <a:t>, </a:t>
            </a:r>
            <a:r>
              <a:rPr lang="ko-KR" altLang="en-US" sz="1000" dirty="0"/>
              <a:t>코인 토스의 결과에 따라서 스킬 효과를 적용한다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코인 토스 시 앞면이 나올 확률 </a:t>
            </a:r>
            <a:r>
              <a:rPr lang="en-US" altLang="ko-KR" sz="1000" dirty="0"/>
              <a:t>: </a:t>
            </a:r>
            <a:r>
              <a:rPr lang="ko-KR" altLang="en-US" sz="1000" dirty="0"/>
              <a:t>기본 </a:t>
            </a:r>
            <a:r>
              <a:rPr lang="en-US" altLang="ko-KR" sz="1000" dirty="0"/>
              <a:t>50% + </a:t>
            </a:r>
            <a:r>
              <a:rPr lang="ko-KR" altLang="en-US" sz="1000" dirty="0"/>
              <a:t>스킬 사용자의 정신력 </a:t>
            </a:r>
            <a:r>
              <a:rPr lang="en-US" altLang="ko-KR" sz="1000" dirty="0"/>
              <a:t>(-45 ~ +45, </a:t>
            </a:r>
            <a:r>
              <a:rPr lang="ko-KR" altLang="en-US" sz="1000" dirty="0"/>
              <a:t>정신력을 가지지 않을 경우 </a:t>
            </a:r>
            <a:r>
              <a:rPr lang="en-US" altLang="ko-KR" sz="1000" dirty="0"/>
              <a:t>0</a:t>
            </a:r>
            <a:r>
              <a:rPr lang="ko-KR" altLang="en-US" sz="1000" dirty="0"/>
              <a:t>으로 계산한다</a:t>
            </a:r>
            <a:r>
              <a:rPr lang="en-US" altLang="ko-KR" sz="1000" dirty="0"/>
              <a:t>.)]</a:t>
            </a:r>
          </a:p>
        </p:txBody>
      </p:sp>
    </p:spTree>
    <p:extLst>
      <p:ext uri="{BB962C8B-B14F-4D97-AF65-F5344CB8AC3E}">
        <p14:creationId xmlns:p14="http://schemas.microsoft.com/office/powerpoint/2010/main" val="1561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AEA7-79E3-502E-509C-DF5DDCA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36482B7-5B29-4FB0-B905-DE64440A732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합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스킬 타겟 선택 차트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EE6006-2860-4F5F-A575-C6307788A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778" y="1268413"/>
            <a:ext cx="5298443" cy="496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8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AEA7-79E3-502E-509C-DF5DDCA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36482B7-5B29-4FB0-B905-DE64440A732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합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합 진행 차트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260828-11D7-404F-9F7A-0E734AD5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632" y="1268413"/>
            <a:ext cx="7372735" cy="496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82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11278</TotalTime>
  <Pages>7</Pages>
  <Words>601</Words>
  <Characters>0</Characters>
  <Application>Microsoft Office PowerPoint</Application>
  <DocSecurity>0</DocSecurity>
  <PresentationFormat>와이드스크린</PresentationFormat>
  <Lines>0</Lines>
  <Paragraphs>84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Calibri</vt:lpstr>
      <vt:lpstr>Wingdings 2</vt:lpstr>
      <vt:lpstr>슬레이트</vt:lpstr>
      <vt:lpstr>SRPG 메인 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yjk0401</dc:creator>
  <cp:lastModifiedBy>User</cp:lastModifiedBy>
  <cp:revision>5005</cp:revision>
  <dcterms:modified xsi:type="dcterms:W3CDTF">2026-04-13T10:47:11Z</dcterms:modified>
  <cp:version>9.103.97.45139</cp:version>
</cp:coreProperties>
</file>