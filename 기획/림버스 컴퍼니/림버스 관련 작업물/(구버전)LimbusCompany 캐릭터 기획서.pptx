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70" r:id="rId1"/>
  </p:sldMasterIdLst>
  <p:notesMasterIdLst>
    <p:notesMasterId r:id="rId12"/>
  </p:notesMasterIdLst>
  <p:handoutMasterIdLst>
    <p:handoutMasterId r:id="rId13"/>
  </p:handoutMasterIdLst>
  <p:sldIdLst>
    <p:sldId id="256" r:id="rId2"/>
    <p:sldId id="393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2364" userDrawn="1">
          <p15:clr>
            <a:srgbClr val="A4A3A4"/>
          </p15:clr>
        </p15:guide>
        <p15:guide id="2" orient="horz" pos="6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232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  <p15:guide id="8" pos="438" userDrawn="1">
          <p15:clr>
            <a:srgbClr val="A4A3A4"/>
          </p15:clr>
        </p15:guide>
        <p15:guide id="9" pos="7242" userDrawn="1">
          <p15:clr>
            <a:srgbClr val="A4A3A4"/>
          </p15:clr>
        </p15:guide>
        <p15:guide id="10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pos="3825">
          <p15:clr>
            <a:srgbClr val="A4A3A4"/>
          </p15:clr>
        </p15:guide>
        <p15:guide id="2" orient="horz" pos="2150">
          <p15:clr>
            <a:srgbClr val="A4A3A4"/>
          </p15:clr>
        </p15:guide>
        <p15:guide id="3" orient="horz" pos="907">
          <p15:clr>
            <a:srgbClr val="A4A3A4"/>
          </p15:clr>
        </p15:guide>
        <p15:guide id="4" orient="horz" pos="3988">
          <p15:clr>
            <a:srgbClr val="A4A3A4"/>
          </p15:clr>
        </p15:guide>
        <p15:guide id="5" pos="209">
          <p15:clr>
            <a:srgbClr val="A4A3A4"/>
          </p15:clr>
        </p15:guide>
        <p15:guide id="6" pos="7445">
          <p15:clr>
            <a:srgbClr val="A4A3A4"/>
          </p15:clr>
        </p15:guide>
        <p15:guide id="7" orient="horz" pos="11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  <a:srgbClr val="548235"/>
    <a:srgbClr val="A6A6A6"/>
    <a:srgbClr val="FF8585"/>
    <a:srgbClr val="7F7F7F"/>
    <a:srgbClr val="2F5597"/>
    <a:srgbClr val="C55A11"/>
    <a:srgbClr val="F8CBAD"/>
    <a:srgbClr val="7C7C7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6279" autoAdjust="0"/>
  </p:normalViewPr>
  <p:slideViewPr>
    <p:cSldViewPr snapToGrid="0" snapToObjects="1" showGuides="1">
      <p:cViewPr varScale="1">
        <p:scale>
          <a:sx n="93" d="100"/>
          <a:sy n="93" d="100"/>
        </p:scale>
        <p:origin x="84" y="378"/>
      </p:cViewPr>
      <p:guideLst>
        <p:guide pos="3840"/>
        <p:guide orient="horz" pos="2364"/>
        <p:guide orient="horz" pos="640"/>
        <p:guide orient="horz" pos="4088"/>
        <p:guide pos="211"/>
        <p:guide pos="7469"/>
        <p:guide orient="horz" pos="232"/>
        <p:guide orient="horz" pos="799"/>
        <p:guide pos="438"/>
        <p:guide pos="7242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79" d="100"/>
          <a:sy n="79" d="100"/>
        </p:scale>
        <p:origin x="2550" y="102"/>
      </p:cViewPr>
      <p:guideLst>
        <p:guide pos="3825"/>
        <p:guide orient="horz" pos="2150"/>
        <p:guide orient="horz" pos="907"/>
        <p:guide orient="horz" pos="3988"/>
        <p:guide pos="209"/>
        <p:guide pos="7445"/>
        <p:guide orient="horz" pos="1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  <p:hf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10055"/>
            <a:ext cx="10515600" cy="285242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  <p:hf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  <p:hf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13258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40105" y="1681480"/>
            <a:ext cx="5157470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40105" y="2505075"/>
            <a:ext cx="5157470" cy="368490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480"/>
            <a:ext cx="5183505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505" cy="368490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  <p:hf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  <p:hf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  <p:hf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  <p:hf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  <p:hf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6235" cy="435229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  <p:hf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215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215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  <p:hf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>
            <a:lvl1pPr marL="0" indent="0" algn="l" latinLnBrk="0">
              <a:buFontTx/>
              <a:buNone/>
              <a:defRPr lang="en-GB" alt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17/09/2025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6" r:id="rId1"/>
    <p:sldLayoutId id="2147484347" r:id="rId2"/>
    <p:sldLayoutId id="2147484348" r:id="rId3"/>
    <p:sldLayoutId id="2147484349" r:id="rId4"/>
    <p:sldLayoutId id="2147484350" r:id="rId5"/>
    <p:sldLayoutId id="2147484351" r:id="rId6"/>
    <p:sldLayoutId id="2147484352" r:id="rId7"/>
    <p:sldLayoutId id="2147484353" r:id="rId8"/>
    <p:sldLayoutId id="2147484354" r:id="rId9"/>
    <p:sldLayoutId id="2147484355" r:id="rId10"/>
    <p:sldLayoutId id="21474843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latinLnBrk="0"/>
            <a:r>
              <a:rPr lang="en-US" altLang="ko-KR" dirty="0"/>
              <a:t>Limbus Company</a:t>
            </a:r>
            <a:br>
              <a:rPr lang="en-US" altLang="ko-KR" dirty="0"/>
            </a:br>
            <a:r>
              <a:rPr lang="ko-KR" altLang="en-US" sz="4000" dirty="0"/>
              <a:t>캐릭터</a:t>
            </a:r>
            <a:r>
              <a:rPr lang="en-US" altLang="ko-KR" sz="4000" dirty="0"/>
              <a:t>(</a:t>
            </a:r>
            <a:r>
              <a:rPr lang="ko-KR" altLang="en-US" sz="4000" dirty="0"/>
              <a:t>인격</a:t>
            </a:r>
            <a:r>
              <a:rPr lang="en-US" altLang="ko-KR" sz="4000" dirty="0"/>
              <a:t>)</a:t>
            </a:r>
            <a:r>
              <a:rPr lang="ko-KR" altLang="en-US" sz="4000" dirty="0"/>
              <a:t> 기획서</a:t>
            </a:r>
            <a:br>
              <a:rPr lang="en-US" altLang="ko-KR" sz="4400" dirty="0"/>
            </a:br>
            <a:r>
              <a:rPr lang="en-US" altLang="ko-KR" sz="3200" dirty="0"/>
              <a:t>E.G.O::</a:t>
            </a:r>
            <a:r>
              <a:rPr lang="ko-KR" altLang="en-US" sz="3200" dirty="0"/>
              <a:t>영속 </a:t>
            </a:r>
            <a:r>
              <a:rPr lang="en-US" altLang="ko-KR" sz="3200" dirty="0"/>
              <a:t>- </a:t>
            </a:r>
            <a:r>
              <a:rPr lang="ko-KR" altLang="en-US" sz="3200" dirty="0"/>
              <a:t>파우스트</a:t>
            </a:r>
            <a:endParaRPr lang="ko-KR" altLang="en-US" dirty="0"/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 algn="r" latinLnBrk="0">
              <a:buFontTx/>
              <a:buNone/>
            </a:pPr>
            <a:r>
              <a:rPr lang="ko-KR" altLang="en-US" dirty="0"/>
              <a:t>윤정근</a:t>
            </a: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6D8F-DA27-E2E0-3C0E-16A1DD0E5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E93F4EF-E084-BB7F-0E5F-00B90BC13A89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기획 의도</a:t>
            </a: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9598283-E370-CC82-6415-DE196A494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735102"/>
              </p:ext>
            </p:extLst>
          </p:nvPr>
        </p:nvGraphicFramePr>
        <p:xfrm>
          <a:off x="1745297" y="2853690"/>
          <a:ext cx="870140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140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진폭 변환 및 진폭 얽힘으로 플레이어가 원치 않는 유형으로 진폭이 변화되는 상황을 줄이고 다양한 진동 유형을 동시에 유지할 수 있게 하는 것으로 진동 키워드의 고점을 높이고 기존의 원하는 진폭 유형을 유지하기 힘들다는 단점을 보완할 수 있게 기획하였다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또한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기존에 존재하던 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WAW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급 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E.G.O [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파우스트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의 단점인 스킬 종류 시 진폭 유형이 기본 진동으로 변환되는 단점을 보완할 수 있는 효과와 속도 차이에 따라서 위력이 증가하는 특징을 계승하게 하여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E.G.O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인격이 연관성을 가지게 기획하였다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03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AEA7-79E3-502E-509C-DF5DDCA8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36482B7-5B29-4FB0-B905-DE64440A732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캐릭터 컨셉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개요</a:t>
            </a:r>
            <a:endParaRPr lang="en-US" altLang="ko-KR" sz="2400" dirty="0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5EEF533-7DE9-BCEA-68B0-84404A5B7DDB}"/>
              </a:ext>
            </a:extLst>
          </p:cNvPr>
          <p:cNvGrpSpPr>
            <a:grpSpLocks noChangeAspect="1"/>
          </p:cNvGrpSpPr>
          <p:nvPr/>
        </p:nvGrpSpPr>
        <p:grpSpPr>
          <a:xfrm>
            <a:off x="832207" y="1303873"/>
            <a:ext cx="10527586" cy="4933415"/>
            <a:chOff x="832207" y="1303873"/>
            <a:chExt cx="10527586" cy="493341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228E46A-EFF0-217D-0284-96A0FB0BB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928095" y="1303873"/>
              <a:ext cx="4604246" cy="4933415"/>
            </a:xfrm>
            <a:prstGeom prst="rect">
              <a:avLst/>
            </a:prstGeom>
          </p:spPr>
        </p:pic>
        <p:sp>
          <p:nvSpPr>
            <p:cNvPr id="16" name="사각형: 잘린 한쪽 모서리 15">
              <a:extLst>
                <a:ext uri="{FF2B5EF4-FFF2-40B4-BE49-F238E27FC236}">
                  <a16:creationId xmlns:a16="http://schemas.microsoft.com/office/drawing/2014/main" id="{2AAE890A-D72C-F869-A3AB-34DEB7C4E041}"/>
                </a:ext>
              </a:extLst>
            </p:cNvPr>
            <p:cNvSpPr/>
            <p:nvPr/>
          </p:nvSpPr>
          <p:spPr>
            <a:xfrm>
              <a:off x="832207" y="1332759"/>
              <a:ext cx="3061699" cy="772088"/>
            </a:xfrm>
            <a:prstGeom prst="snip1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환상체 시간 오리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bg1">
                      <a:lumMod val="95000"/>
                    </a:schemeClr>
                  </a:solidFill>
                </a:rPr>
                <a:t>E.G.O </a:t>
              </a:r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추출 및 장착한 형태</a:t>
              </a:r>
            </a:p>
          </p:txBody>
        </p:sp>
        <p:sp>
          <p:nvSpPr>
            <p:cNvPr id="17" name="사각형: 잘린 한쪽 모서리 16">
              <a:extLst>
                <a:ext uri="{FF2B5EF4-FFF2-40B4-BE49-F238E27FC236}">
                  <a16:creationId xmlns:a16="http://schemas.microsoft.com/office/drawing/2014/main" id="{59EE9FF9-08A9-C5EF-C700-8CFF9912A7E1}"/>
                </a:ext>
              </a:extLst>
            </p:cNvPr>
            <p:cNvSpPr/>
            <p:nvPr/>
          </p:nvSpPr>
          <p:spPr>
            <a:xfrm>
              <a:off x="832207" y="3737662"/>
              <a:ext cx="1795502" cy="393513"/>
            </a:xfrm>
            <a:prstGeom prst="snip1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톱니바퀴 장식</a:t>
              </a:r>
            </a:p>
          </p:txBody>
        </p:sp>
        <p:sp>
          <p:nvSpPr>
            <p:cNvPr id="18" name="사각형: 잘린 한쪽 모서리 17">
              <a:extLst>
                <a:ext uri="{FF2B5EF4-FFF2-40B4-BE49-F238E27FC236}">
                  <a16:creationId xmlns:a16="http://schemas.microsoft.com/office/drawing/2014/main" id="{FAC5F2ED-EE9E-4020-0716-36D0139475B0}"/>
                </a:ext>
              </a:extLst>
            </p:cNvPr>
            <p:cNvSpPr/>
            <p:nvPr/>
          </p:nvSpPr>
          <p:spPr>
            <a:xfrm>
              <a:off x="832207" y="2226717"/>
              <a:ext cx="2101201" cy="772088"/>
            </a:xfrm>
            <a:prstGeom prst="snip1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토끼 또는 오리로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보이는 형상</a:t>
              </a:r>
            </a:p>
          </p:txBody>
        </p:sp>
        <p:sp>
          <p:nvSpPr>
            <p:cNvPr id="19" name="사각형: 잘린 한쪽 모서리 18">
              <a:extLst>
                <a:ext uri="{FF2B5EF4-FFF2-40B4-BE49-F238E27FC236}">
                  <a16:creationId xmlns:a16="http://schemas.microsoft.com/office/drawing/2014/main" id="{4909FE72-9677-44E2-6613-A0F6F3683292}"/>
                </a:ext>
              </a:extLst>
            </p:cNvPr>
            <p:cNvSpPr/>
            <p:nvPr/>
          </p:nvSpPr>
          <p:spPr>
            <a:xfrm>
              <a:off x="832207" y="3161114"/>
              <a:ext cx="1795502" cy="393513"/>
            </a:xfrm>
            <a:prstGeom prst="snip1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반투명한 장식</a:t>
              </a: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3ACE41C2-3AB3-CF83-9DA3-1596F1CD2EE2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V="1">
              <a:off x="2933408" y="2486346"/>
              <a:ext cx="1196803" cy="126415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CE79EC65-7CBC-73D0-1969-71BDA2EC410D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2627709" y="2805783"/>
              <a:ext cx="1300386" cy="552088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CE92F923-4A50-B78E-F31E-001018043C8E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V="1">
              <a:off x="2627709" y="3554627"/>
              <a:ext cx="1502502" cy="379792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사각형: 잘린 한쪽 모서리 37">
              <a:extLst>
                <a:ext uri="{FF2B5EF4-FFF2-40B4-BE49-F238E27FC236}">
                  <a16:creationId xmlns:a16="http://schemas.microsoft.com/office/drawing/2014/main" id="{FF34AEFA-636E-EFC8-8B93-4D9A77C544D8}"/>
                </a:ext>
              </a:extLst>
            </p:cNvPr>
            <p:cNvSpPr/>
            <p:nvPr/>
          </p:nvSpPr>
          <p:spPr>
            <a:xfrm>
              <a:off x="9096292" y="3462841"/>
              <a:ext cx="2263501" cy="772088"/>
            </a:xfrm>
            <a:prstGeom prst="snip1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시계 바늘 형태의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다양한 무기 사용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9" name="사각형: 잘린 한쪽 모서리 38">
              <a:extLst>
                <a:ext uri="{FF2B5EF4-FFF2-40B4-BE49-F238E27FC236}">
                  <a16:creationId xmlns:a16="http://schemas.microsoft.com/office/drawing/2014/main" id="{85F6360B-B345-DB32-4FEA-48B53E50ED48}"/>
                </a:ext>
              </a:extLst>
            </p:cNvPr>
            <p:cNvSpPr/>
            <p:nvPr/>
          </p:nvSpPr>
          <p:spPr>
            <a:xfrm>
              <a:off x="9258592" y="4376319"/>
              <a:ext cx="2078831" cy="393513"/>
            </a:xfrm>
            <a:prstGeom prst="snip1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장창 형태의 초침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0" name="사각형: 잘린 한쪽 모서리 39">
              <a:extLst>
                <a:ext uri="{FF2B5EF4-FFF2-40B4-BE49-F238E27FC236}">
                  <a16:creationId xmlns:a16="http://schemas.microsoft.com/office/drawing/2014/main" id="{FE2A2953-82EF-7A2C-A4DE-029DA377FA19}"/>
                </a:ext>
              </a:extLst>
            </p:cNvPr>
            <p:cNvSpPr/>
            <p:nvPr/>
          </p:nvSpPr>
          <p:spPr>
            <a:xfrm>
              <a:off x="9258592" y="4932130"/>
              <a:ext cx="2078831" cy="393513"/>
            </a:xfrm>
            <a:prstGeom prst="snip1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장검 형태의 분침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1" name="사각형: 잘린 한쪽 모서리 40">
              <a:extLst>
                <a:ext uri="{FF2B5EF4-FFF2-40B4-BE49-F238E27FC236}">
                  <a16:creationId xmlns:a16="http://schemas.microsoft.com/office/drawing/2014/main" id="{6AEB0ED5-24EE-71BB-8490-3496B15EB6D9}"/>
                </a:ext>
              </a:extLst>
            </p:cNvPr>
            <p:cNvSpPr/>
            <p:nvPr/>
          </p:nvSpPr>
          <p:spPr>
            <a:xfrm>
              <a:off x="8959066" y="5474231"/>
              <a:ext cx="2378358" cy="393513"/>
            </a:xfrm>
            <a:prstGeom prst="snip1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한손검 형태의 시침</a:t>
              </a:r>
              <a:endParaRPr lang="en-US" altLang="ko-KR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1362CE4A-05C8-770C-7A71-43C7669AA7A8}"/>
                </a:ext>
              </a:extLst>
            </p:cNvPr>
            <p:cNvCxnSpPr>
              <a:cxnSpLocks/>
              <a:stCxn id="39" idx="2"/>
            </p:cNvCxnSpPr>
            <p:nvPr/>
          </p:nvCxnSpPr>
          <p:spPr>
            <a:xfrm flipH="1" flipV="1">
              <a:off x="7572054" y="2363056"/>
              <a:ext cx="1686538" cy="2210020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FCD9A73A-7B56-ECDC-2DF1-39CDEC33D777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 flipH="1" flipV="1">
              <a:off x="7428216" y="4234929"/>
              <a:ext cx="1830376" cy="893958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CE9C43EF-3225-F619-674F-73B46F20B1D4}"/>
                </a:ext>
              </a:extLst>
            </p:cNvPr>
            <p:cNvCxnSpPr>
              <a:cxnSpLocks/>
              <a:stCxn id="41" idx="2"/>
            </p:cNvCxnSpPr>
            <p:nvPr/>
          </p:nvCxnSpPr>
          <p:spPr>
            <a:xfrm flipH="1" flipV="1">
              <a:off x="5493223" y="5277475"/>
              <a:ext cx="3465843" cy="393513"/>
            </a:xfrm>
            <a:prstGeom prst="straightConnector1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1385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E067-97AD-0A00-FF1B-58DCDDE2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4A2344B-4498-5029-222A-6C701C10FDB3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패시브 </a:t>
            </a:r>
            <a:r>
              <a:rPr lang="en-US" altLang="ko-KR" sz="3200" dirty="0"/>
              <a:t>&amp; </a:t>
            </a:r>
            <a:r>
              <a:rPr lang="ko-KR" altLang="en-US" sz="3200" dirty="0"/>
              <a:t>서포트 패시브 스킬</a:t>
            </a:r>
            <a:endParaRPr lang="en-US" altLang="ko-KR" sz="2400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0E941A3-722B-02C5-3F08-4012CFD7D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376689"/>
              </p:ext>
            </p:extLst>
          </p:nvPr>
        </p:nvGraphicFramePr>
        <p:xfrm>
          <a:off x="5621823" y="1970522"/>
          <a:ext cx="566928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1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과거의 잔영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나태</a:t>
                      </a:r>
                      <a:r>
                        <a:rPr lang="en-US" altLang="ko-KR" sz="1400" b="0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자원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× 3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이상 보유 시 적용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06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생성 되어있는 잔영 종류당 속도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증가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잔영이 생성되어 있을 때 잔영과 다른 무기 사용 시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가장 먼저 생성된 잔영으로 마지막 코인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재사용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후 해당 잔영 소멸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6EF2BB6-8316-1DAE-6AB2-9F0390F7F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142" y="1217153"/>
            <a:ext cx="2954464" cy="2469350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AC59325-176D-ACF6-8C76-2AF780248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335895"/>
              </p:ext>
            </p:extLst>
          </p:nvPr>
        </p:nvGraphicFramePr>
        <p:xfrm>
          <a:off x="5621824" y="3686503"/>
          <a:ext cx="56692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진폭 공명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잔영 생성될 때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변환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얽힘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의 효과로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진동 유형 변경 시 잔영에게 기존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유형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횟수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으로 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</a:tbl>
          </a:graphicData>
        </a:graphic>
      </p:graphicFrame>
      <p:sp>
        <p:nvSpPr>
          <p:cNvPr id="6" name="화살표: 왼쪽/오른쪽 5">
            <a:extLst>
              <a:ext uri="{FF2B5EF4-FFF2-40B4-BE49-F238E27FC236}">
                <a16:creationId xmlns:a16="http://schemas.microsoft.com/office/drawing/2014/main" id="{D128B2EB-BE7F-FCC7-645E-E305F8A46311}"/>
              </a:ext>
            </a:extLst>
          </p:cNvPr>
          <p:cNvSpPr/>
          <p:nvPr/>
        </p:nvSpPr>
        <p:spPr>
          <a:xfrm>
            <a:off x="1331291" y="3446529"/>
            <a:ext cx="1199071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시침 잔영</a:t>
            </a:r>
          </a:p>
        </p:txBody>
      </p:sp>
      <p:sp>
        <p:nvSpPr>
          <p:cNvPr id="7" name="화살표: 왼쪽/오른쪽 6">
            <a:extLst>
              <a:ext uri="{FF2B5EF4-FFF2-40B4-BE49-F238E27FC236}">
                <a16:creationId xmlns:a16="http://schemas.microsoft.com/office/drawing/2014/main" id="{EF767E7E-CD99-D194-8EBE-6F7527DA0CEB}"/>
              </a:ext>
            </a:extLst>
          </p:cNvPr>
          <p:cNvSpPr/>
          <p:nvPr/>
        </p:nvSpPr>
        <p:spPr>
          <a:xfrm>
            <a:off x="2616315" y="3446529"/>
            <a:ext cx="1199071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분침 잔영</a:t>
            </a:r>
          </a:p>
        </p:txBody>
      </p:sp>
      <p:sp>
        <p:nvSpPr>
          <p:cNvPr id="8" name="화살표: 왼쪽/오른쪽 7">
            <a:extLst>
              <a:ext uri="{FF2B5EF4-FFF2-40B4-BE49-F238E27FC236}">
                <a16:creationId xmlns:a16="http://schemas.microsoft.com/office/drawing/2014/main" id="{8587871E-F0EE-9045-7F13-AC175AB44CD8}"/>
              </a:ext>
            </a:extLst>
          </p:cNvPr>
          <p:cNvSpPr/>
          <p:nvPr/>
        </p:nvSpPr>
        <p:spPr>
          <a:xfrm>
            <a:off x="3901339" y="3446529"/>
            <a:ext cx="1199071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초침 잔영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CD7340B-00A3-FE53-A927-03E622485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24501"/>
              </p:ext>
            </p:extLst>
          </p:nvPr>
        </p:nvGraphicFramePr>
        <p:xfrm>
          <a:off x="5621824" y="5196375"/>
          <a:ext cx="56692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진폭 확장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잔영 생성될 때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변환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얽힘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의 효과로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진동 유형 변경 시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횟수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추가 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</a:tbl>
          </a:graphicData>
        </a:graphic>
      </p:graphicFrame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A0586292-816B-F44F-CEC5-D6F78008E37C}"/>
              </a:ext>
            </a:extLst>
          </p:cNvPr>
          <p:cNvSpPr/>
          <p:nvPr/>
        </p:nvSpPr>
        <p:spPr>
          <a:xfrm>
            <a:off x="5621824" y="1509248"/>
            <a:ext cx="1364604" cy="356123"/>
          </a:xfrm>
          <a:prstGeom prst="snip1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패시브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스킬</a:t>
            </a:r>
            <a:endParaRPr lang="en-US" altLang="ko-KR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사각형: 잘린 한쪽 모서리 13">
            <a:extLst>
              <a:ext uri="{FF2B5EF4-FFF2-40B4-BE49-F238E27FC236}">
                <a16:creationId xmlns:a16="http://schemas.microsoft.com/office/drawing/2014/main" id="{7D480EA4-D96C-F9E8-3D01-2ED4316CF799}"/>
              </a:ext>
            </a:extLst>
          </p:cNvPr>
          <p:cNvSpPr/>
          <p:nvPr/>
        </p:nvSpPr>
        <p:spPr>
          <a:xfrm>
            <a:off x="5621824" y="4729481"/>
            <a:ext cx="2165987" cy="356123"/>
          </a:xfrm>
          <a:prstGeom prst="snip1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서포트 패시브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스킬</a:t>
            </a:r>
            <a:endParaRPr lang="en-US" altLang="ko-KR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B2A87EA-D0C6-043B-DA31-BE01DC123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16" y="3646791"/>
            <a:ext cx="1468193" cy="179336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DD0FEE2-08F3-89A1-0225-549C102C3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286" y="4061939"/>
            <a:ext cx="2003100" cy="152529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1A62AD5-D249-EC03-A24E-4CF0369B4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7026" y="4337064"/>
            <a:ext cx="1647160" cy="1140956"/>
          </a:xfrm>
          <a:prstGeom prst="rect">
            <a:avLst/>
          </a:prstGeom>
        </p:spPr>
      </p:pic>
      <p:sp>
        <p:nvSpPr>
          <p:cNvPr id="26" name="화살표: 왼쪽/오른쪽 25">
            <a:extLst>
              <a:ext uri="{FF2B5EF4-FFF2-40B4-BE49-F238E27FC236}">
                <a16:creationId xmlns:a16="http://schemas.microsoft.com/office/drawing/2014/main" id="{C6E52FE1-0961-0D4E-F977-5FA02B221E57}"/>
              </a:ext>
            </a:extLst>
          </p:cNvPr>
          <p:cNvSpPr/>
          <p:nvPr/>
        </p:nvSpPr>
        <p:spPr>
          <a:xfrm>
            <a:off x="771782" y="5451014"/>
            <a:ext cx="1251504" cy="457753"/>
          </a:xfrm>
          <a:prstGeom prst="leftRightArrow">
            <a:avLst>
              <a:gd name="adj1" fmla="val 100000"/>
              <a:gd name="adj2" fmla="val 27555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시침 잔영</a:t>
            </a:r>
            <a:endParaRPr lang="en-US" altLang="ko-KR" sz="1400" b="1" dirty="0"/>
          </a:p>
          <a:p>
            <a:pPr algn="ctr"/>
            <a:r>
              <a:rPr lang="ko-KR" altLang="en-US" sz="1400" b="1" dirty="0"/>
              <a:t>재사용</a:t>
            </a:r>
          </a:p>
        </p:txBody>
      </p:sp>
      <p:sp>
        <p:nvSpPr>
          <p:cNvPr id="27" name="화살표: 왼쪽/오른쪽 26">
            <a:extLst>
              <a:ext uri="{FF2B5EF4-FFF2-40B4-BE49-F238E27FC236}">
                <a16:creationId xmlns:a16="http://schemas.microsoft.com/office/drawing/2014/main" id="{A4EA103B-3C15-C823-5A5B-50800A0E17E9}"/>
              </a:ext>
            </a:extLst>
          </p:cNvPr>
          <p:cNvSpPr/>
          <p:nvPr/>
        </p:nvSpPr>
        <p:spPr>
          <a:xfrm>
            <a:off x="2236065" y="5451014"/>
            <a:ext cx="1251504" cy="457753"/>
          </a:xfrm>
          <a:prstGeom prst="leftRightArrow">
            <a:avLst>
              <a:gd name="adj1" fmla="val 100000"/>
              <a:gd name="adj2" fmla="val 27555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분침 잔영</a:t>
            </a:r>
            <a:endParaRPr lang="en-US" altLang="ko-KR" sz="1400" b="1" dirty="0"/>
          </a:p>
          <a:p>
            <a:pPr algn="ctr"/>
            <a:r>
              <a:rPr lang="ko-KR" altLang="en-US" sz="1400" b="1" dirty="0"/>
              <a:t>재사용</a:t>
            </a:r>
          </a:p>
        </p:txBody>
      </p:sp>
      <p:sp>
        <p:nvSpPr>
          <p:cNvPr id="28" name="화살표: 왼쪽/오른쪽 27">
            <a:extLst>
              <a:ext uri="{FF2B5EF4-FFF2-40B4-BE49-F238E27FC236}">
                <a16:creationId xmlns:a16="http://schemas.microsoft.com/office/drawing/2014/main" id="{26CC73F2-AA22-06D8-085B-DF94B71D2648}"/>
              </a:ext>
            </a:extLst>
          </p:cNvPr>
          <p:cNvSpPr/>
          <p:nvPr/>
        </p:nvSpPr>
        <p:spPr>
          <a:xfrm>
            <a:off x="3928944" y="5451014"/>
            <a:ext cx="1251504" cy="457753"/>
          </a:xfrm>
          <a:prstGeom prst="leftRightArrow">
            <a:avLst>
              <a:gd name="adj1" fmla="val 100000"/>
              <a:gd name="adj2" fmla="val 27555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초침 잔영</a:t>
            </a:r>
            <a:endParaRPr lang="en-US" altLang="ko-KR" sz="1400" b="1" dirty="0"/>
          </a:p>
          <a:p>
            <a:pPr algn="ctr"/>
            <a:r>
              <a:rPr lang="ko-KR" altLang="en-US" sz="1400" b="1" dirty="0"/>
              <a:t>재사용</a:t>
            </a:r>
          </a:p>
        </p:txBody>
      </p:sp>
    </p:spTree>
    <p:extLst>
      <p:ext uri="{BB962C8B-B14F-4D97-AF65-F5344CB8AC3E}">
        <p14:creationId xmlns:p14="http://schemas.microsoft.com/office/powerpoint/2010/main" val="3251931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2280-7D99-F3F9-A615-6CA558F2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271CAE6-2A76-D6FD-9736-B5F21B108A01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1 </a:t>
            </a:r>
            <a:r>
              <a:rPr lang="en-US" altLang="ko-KR" sz="2400" dirty="0"/>
              <a:t>[</a:t>
            </a:r>
            <a:r>
              <a:rPr lang="ko-KR" altLang="en-US" sz="2400" dirty="0"/>
              <a:t>시침</a:t>
            </a:r>
            <a:r>
              <a:rPr lang="en-US" altLang="ko-KR" sz="2400" dirty="0"/>
              <a:t>] </a:t>
            </a:r>
            <a:r>
              <a:rPr lang="ko-KR" altLang="en-US" sz="2400" dirty="0"/>
              <a:t>연속 베기</a:t>
            </a:r>
            <a:endParaRPr lang="en-US" altLang="ko-KR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704729D-641B-A514-F98D-FFC810103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19878"/>
              </p:ext>
            </p:extLst>
          </p:nvPr>
        </p:nvGraphicFramePr>
        <p:xfrm>
          <a:off x="2425052" y="3977334"/>
          <a:ext cx="212629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784542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none" dirty="0">
                          <a:solidFill>
                            <a:schemeClr val="tx1"/>
                          </a:solidFill>
                        </a:rPr>
                        <a:t>참격</a:t>
                      </a:r>
                      <a:endParaRPr lang="en-US" altLang="ko-KR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002060"/>
                          </a:solidFill>
                          <a:highlight>
                            <a:srgbClr val="C0C0C0"/>
                          </a:highlight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rgbClr val="002060"/>
                          </a:solidFill>
                          <a:highlight>
                            <a:srgbClr val="C0C0C0"/>
                          </a:highlight>
                        </a:rPr>
                        <a:t>오만</a:t>
                      </a:r>
                      <a:r>
                        <a:rPr lang="en-US" altLang="ko-KR" sz="1600" b="0" dirty="0">
                          <a:solidFill>
                            <a:srgbClr val="002060"/>
                          </a:solidFill>
                          <a:highlight>
                            <a:srgbClr val="C0C0C0"/>
                          </a:highlight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×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8CC3C92-7E62-643C-AC1F-DE7999A00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397555"/>
              </p:ext>
            </p:extLst>
          </p:nvPr>
        </p:nvGraphicFramePr>
        <p:xfrm>
          <a:off x="5119954" y="3870654"/>
          <a:ext cx="524700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700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속도가 자신보다 느릴 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피해량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대상과의 속도 차이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× 5)%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30%)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대상보다 자신의 속도가 빠르면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기본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+ 1</a:t>
                      </a: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잔영 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시침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 생성되어 있으면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합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+ 2</a:t>
                      </a: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당 코인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+ 1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횟수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재사용 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잔영이 보유한 진동 유형 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변환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및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폭발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5FF3690E-1164-42F5-53A8-424956559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034" y="1485586"/>
            <a:ext cx="6917932" cy="2274576"/>
          </a:xfrm>
          <a:prstGeom prst="rect">
            <a:avLst/>
          </a:prstGeom>
        </p:spPr>
      </p:pic>
      <p:sp>
        <p:nvSpPr>
          <p:cNvPr id="8" name="화살표: 왼쪽/오른쪽 7">
            <a:extLst>
              <a:ext uri="{FF2B5EF4-FFF2-40B4-BE49-F238E27FC236}">
                <a16:creationId xmlns:a16="http://schemas.microsoft.com/office/drawing/2014/main" id="{914EFEBC-6F8C-AFA4-FB28-7A8FBF85C883}"/>
              </a:ext>
            </a:extLst>
          </p:cNvPr>
          <p:cNvSpPr/>
          <p:nvPr/>
        </p:nvSpPr>
        <p:spPr>
          <a:xfrm>
            <a:off x="3327666" y="3483095"/>
            <a:ext cx="2768334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1 </a:t>
            </a:r>
            <a:r>
              <a:rPr lang="ko-KR" altLang="en-US" sz="1400" b="1" dirty="0"/>
              <a:t>코인</a:t>
            </a:r>
          </a:p>
        </p:txBody>
      </p:sp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023C8BE9-AF19-BE9F-4DE9-49D20FEF53E4}"/>
              </a:ext>
            </a:extLst>
          </p:cNvPr>
          <p:cNvSpPr/>
          <p:nvPr/>
        </p:nvSpPr>
        <p:spPr>
          <a:xfrm>
            <a:off x="6096000" y="3483095"/>
            <a:ext cx="2768334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2 </a:t>
            </a:r>
            <a:r>
              <a:rPr lang="ko-KR" altLang="en-US" sz="1400" b="1" dirty="0"/>
              <a:t>코인</a:t>
            </a:r>
          </a:p>
        </p:txBody>
      </p:sp>
    </p:spTree>
    <p:extLst>
      <p:ext uri="{BB962C8B-B14F-4D97-AF65-F5344CB8AC3E}">
        <p14:creationId xmlns:p14="http://schemas.microsoft.com/office/powerpoint/2010/main" val="2453553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6808-A7D9-B9E4-50CB-2F6D23594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1B7D724-9121-D0D4-7464-1BA078D263C4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2 </a:t>
            </a:r>
            <a:r>
              <a:rPr lang="en-US" altLang="ko-KR" sz="2400" dirty="0"/>
              <a:t>[</a:t>
            </a:r>
            <a:r>
              <a:rPr lang="ko-KR" altLang="en-US" sz="2400" dirty="0"/>
              <a:t>분침</a:t>
            </a:r>
            <a:r>
              <a:rPr lang="en-US" altLang="ko-KR" sz="2400" dirty="0"/>
              <a:t>] </a:t>
            </a:r>
            <a:r>
              <a:rPr lang="ko-KR" altLang="en-US" sz="2400" dirty="0"/>
              <a:t>베어 가르기</a:t>
            </a:r>
            <a:endParaRPr lang="en-US" altLang="ko-KR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645E013-5BFE-83E9-4250-EFEE655C5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517158"/>
              </p:ext>
            </p:extLst>
          </p:nvPr>
        </p:nvGraphicFramePr>
        <p:xfrm>
          <a:off x="2425052" y="3977334"/>
          <a:ext cx="212629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784542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참격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highlight>
                            <a:srgbClr val="808080"/>
                          </a:highlight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highlight>
                            <a:srgbClr val="808080"/>
                          </a:highlight>
                        </a:rPr>
                        <a:t>우울</a:t>
                      </a:r>
                      <a:r>
                        <a:rPr lang="en-US" altLang="ko-KR" sz="1600" b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highlight>
                            <a:srgbClr val="808080"/>
                          </a:highlight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×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142D14A-B21B-7C36-8232-0B2E4FAA4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823576"/>
              </p:ext>
            </p:extLst>
          </p:nvPr>
        </p:nvGraphicFramePr>
        <p:xfrm>
          <a:off x="5119954" y="3870654"/>
          <a:ext cx="524700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700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속도가 자신보다 느릴 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피해량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대상과의 속도 차이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× 5)%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40%)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대상보다 자신의 속도가 빠르면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기본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+ 1</a:t>
                      </a: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잔영 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분침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 생성되어 있으면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합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+ 2</a:t>
                      </a: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당 코인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+ 1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횟수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재사용 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잔영이 보유한 진동 유형 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변환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및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폭발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C0AD1490-8C28-D7EE-A078-BC8A1E5BE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482" y="1419116"/>
            <a:ext cx="5685036" cy="2155102"/>
          </a:xfrm>
          <a:prstGeom prst="rect">
            <a:avLst/>
          </a:prstGeom>
        </p:spPr>
      </p:pic>
      <p:sp>
        <p:nvSpPr>
          <p:cNvPr id="8" name="화살표: 왼쪽/오른쪽 7">
            <a:extLst>
              <a:ext uri="{FF2B5EF4-FFF2-40B4-BE49-F238E27FC236}">
                <a16:creationId xmlns:a16="http://schemas.microsoft.com/office/drawing/2014/main" id="{D5471E89-700B-1275-5FF9-669CD7F1A5E3}"/>
              </a:ext>
            </a:extLst>
          </p:cNvPr>
          <p:cNvSpPr/>
          <p:nvPr/>
        </p:nvSpPr>
        <p:spPr>
          <a:xfrm>
            <a:off x="3327666" y="3483095"/>
            <a:ext cx="2768334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1 </a:t>
            </a:r>
            <a:r>
              <a:rPr lang="ko-KR" altLang="en-US" sz="1400" b="1" dirty="0"/>
              <a:t>코인</a:t>
            </a:r>
          </a:p>
        </p:txBody>
      </p:sp>
      <p:sp>
        <p:nvSpPr>
          <p:cNvPr id="9" name="화살표: 왼쪽/오른쪽 8">
            <a:extLst>
              <a:ext uri="{FF2B5EF4-FFF2-40B4-BE49-F238E27FC236}">
                <a16:creationId xmlns:a16="http://schemas.microsoft.com/office/drawing/2014/main" id="{3A380A3F-6942-440D-6544-23BDE8B3722E}"/>
              </a:ext>
            </a:extLst>
          </p:cNvPr>
          <p:cNvSpPr/>
          <p:nvPr/>
        </p:nvSpPr>
        <p:spPr>
          <a:xfrm>
            <a:off x="6096000" y="3483095"/>
            <a:ext cx="2768334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2 </a:t>
            </a:r>
            <a:r>
              <a:rPr lang="ko-KR" altLang="en-US" sz="1400" b="1" dirty="0"/>
              <a:t>코인</a:t>
            </a:r>
          </a:p>
        </p:txBody>
      </p:sp>
    </p:spTree>
    <p:extLst>
      <p:ext uri="{BB962C8B-B14F-4D97-AF65-F5344CB8AC3E}">
        <p14:creationId xmlns:p14="http://schemas.microsoft.com/office/powerpoint/2010/main" val="2323734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E8036-0485-DB05-7E26-61924A09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14E2342-EEC0-1E63-D4EC-94CCDD7ECEB0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3-1 </a:t>
            </a:r>
            <a:r>
              <a:rPr lang="en-US" altLang="ko-KR" sz="2400" dirty="0"/>
              <a:t>[</a:t>
            </a:r>
            <a:r>
              <a:rPr lang="ko-KR" altLang="en-US" sz="2400" dirty="0"/>
              <a:t>초침</a:t>
            </a:r>
            <a:r>
              <a:rPr lang="en-US" altLang="ko-KR" sz="2400" dirty="0"/>
              <a:t>] </a:t>
            </a:r>
            <a:r>
              <a:rPr lang="ko-KR" altLang="en-US" sz="2400" dirty="0"/>
              <a:t>꿰뚫어 내치기</a:t>
            </a:r>
            <a:endParaRPr lang="en-US" altLang="ko-KR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A9349A8-DFB8-8C6B-18B7-0363B7E6D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961684"/>
              </p:ext>
            </p:extLst>
          </p:nvPr>
        </p:nvGraphicFramePr>
        <p:xfrm>
          <a:off x="2425052" y="3668806"/>
          <a:ext cx="21977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855980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관통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나태</a:t>
                      </a:r>
                      <a:r>
                        <a:rPr lang="en-US" altLang="ko-KR" sz="1600" b="0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]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600" b="0" dirty="0">
                        <a:solidFill>
                          <a:schemeClr val="accent4">
                            <a:lumMod val="75000"/>
                          </a:schemeClr>
                        </a:solidFill>
                        <a:highlight>
                          <a:srgbClr val="C0C0C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×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730353-170E-6D07-A9E0-7D008F74A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54272"/>
              </p:ext>
            </p:extLst>
          </p:nvPr>
        </p:nvGraphicFramePr>
        <p:xfrm>
          <a:off x="5119954" y="3135406"/>
          <a:ext cx="5247005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700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잔영 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시침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]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잔영 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분침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]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잔영 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초침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 모두 생성되어 있으면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정지된 시간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으로 발동됨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속도가 자신보다 느릴 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피해량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대상과의 속도 차이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× 5)%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50%)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대상보다 자신의 속도가 빠르면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기본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+ 2</a:t>
                      </a: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잔영 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초침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 생성되어 있으면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합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+ 2</a:t>
                      </a: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진동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당 코인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+ 1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횟수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진동</a:t>
                      </a:r>
                      <a:r>
                        <a:rPr lang="en-US" altLang="ko-KR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영속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으로 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얽힘</a:t>
                      </a:r>
                      <a:endParaRPr lang="en-US" altLang="ko-KR" sz="1400" b="0" dirty="0">
                        <a:solidFill>
                          <a:srgbClr val="C00000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폭발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횟수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감소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재사용 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잔영이 보유한 진동 유형 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변환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및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폭발</a:t>
                      </a:r>
                      <a:endParaRPr lang="en-US" altLang="ko-KR" sz="1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CE0D83B-3348-9FB6-7257-F59046D36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554" y="805298"/>
            <a:ext cx="9876892" cy="2546914"/>
          </a:xfrm>
          <a:prstGeom prst="rect">
            <a:avLst/>
          </a:prstGeom>
        </p:spPr>
      </p:pic>
      <p:sp>
        <p:nvSpPr>
          <p:cNvPr id="8" name="화살표: 왼쪽/오른쪽 7">
            <a:extLst>
              <a:ext uri="{FF2B5EF4-FFF2-40B4-BE49-F238E27FC236}">
                <a16:creationId xmlns:a16="http://schemas.microsoft.com/office/drawing/2014/main" id="{D17295A7-A68D-815B-32D1-44A00CC85626}"/>
              </a:ext>
            </a:extLst>
          </p:cNvPr>
          <p:cNvSpPr/>
          <p:nvPr/>
        </p:nvSpPr>
        <p:spPr>
          <a:xfrm>
            <a:off x="1689366" y="2867383"/>
            <a:ext cx="2768334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1 </a:t>
            </a:r>
            <a:r>
              <a:rPr lang="ko-KR" altLang="en-US" sz="1400" b="1" dirty="0"/>
              <a:t>코인</a:t>
            </a:r>
          </a:p>
        </p:txBody>
      </p:sp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BEF3A5CD-CEFC-712C-97D2-EA06A2754DAD}"/>
              </a:ext>
            </a:extLst>
          </p:cNvPr>
          <p:cNvSpPr/>
          <p:nvPr/>
        </p:nvSpPr>
        <p:spPr>
          <a:xfrm>
            <a:off x="4965968" y="2867383"/>
            <a:ext cx="2768334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2 </a:t>
            </a:r>
            <a:r>
              <a:rPr lang="ko-KR" altLang="en-US" sz="1400" b="1" dirty="0"/>
              <a:t>코인</a:t>
            </a:r>
          </a:p>
        </p:txBody>
      </p:sp>
      <p:sp>
        <p:nvSpPr>
          <p:cNvPr id="11" name="화살표: 왼쪽/오른쪽 10">
            <a:extLst>
              <a:ext uri="{FF2B5EF4-FFF2-40B4-BE49-F238E27FC236}">
                <a16:creationId xmlns:a16="http://schemas.microsoft.com/office/drawing/2014/main" id="{745676DD-C076-78A4-1DB7-ECBAB1B349F6}"/>
              </a:ext>
            </a:extLst>
          </p:cNvPr>
          <p:cNvSpPr/>
          <p:nvPr/>
        </p:nvSpPr>
        <p:spPr>
          <a:xfrm>
            <a:off x="8652143" y="2867383"/>
            <a:ext cx="1984107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3 </a:t>
            </a:r>
            <a:r>
              <a:rPr lang="ko-KR" altLang="en-US" sz="1400" b="1" dirty="0"/>
              <a:t>코인</a:t>
            </a:r>
          </a:p>
        </p:txBody>
      </p:sp>
    </p:spTree>
    <p:extLst>
      <p:ext uri="{BB962C8B-B14F-4D97-AF65-F5344CB8AC3E}">
        <p14:creationId xmlns:p14="http://schemas.microsoft.com/office/powerpoint/2010/main" val="425947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7026E-994E-FB3B-F84F-E20FC0EA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330F5BF-F3A1-3EF8-22D8-3308154DCDB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3-2 </a:t>
            </a:r>
            <a:r>
              <a:rPr lang="en-US" altLang="ko-KR" sz="2400" dirty="0"/>
              <a:t>[</a:t>
            </a:r>
            <a:r>
              <a:rPr lang="ko-KR" altLang="en-US" sz="2400" dirty="0"/>
              <a:t>영속</a:t>
            </a:r>
            <a:r>
              <a:rPr lang="en-US" altLang="ko-KR" sz="2400" dirty="0"/>
              <a:t>] </a:t>
            </a:r>
            <a:r>
              <a:rPr lang="ko-KR" altLang="en-US" sz="2400" dirty="0"/>
              <a:t>정지된 시간</a:t>
            </a:r>
            <a:endParaRPr lang="en-US" altLang="ko-KR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3868317-FB14-2BA9-D691-6D9AE0E75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43115"/>
              </p:ext>
            </p:extLst>
          </p:nvPr>
        </p:nvGraphicFramePr>
        <p:xfrm>
          <a:off x="2242553" y="4103369"/>
          <a:ext cx="24803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관통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나태</a:t>
                      </a:r>
                      <a:r>
                        <a:rPr lang="en-US" altLang="ko-KR" sz="1600" b="0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]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600" b="0" dirty="0">
                        <a:solidFill>
                          <a:schemeClr val="accent4">
                            <a:lumMod val="75000"/>
                          </a:schemeClr>
                        </a:solidFill>
                        <a:highlight>
                          <a:srgbClr val="C0C0C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별도 생성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EEDF319-78A7-7C7F-E147-F08F99C7B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8710"/>
              </p:ext>
            </p:extLst>
          </p:nvPr>
        </p:nvGraphicFramePr>
        <p:xfrm>
          <a:off x="5119954" y="3783329"/>
          <a:ext cx="4829493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9493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속도가 자신보다 느릴 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피해량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대상과의 속도 차이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× 5)%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50%)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대상보다 자신의 속도가 빠르면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기본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+ 2</a:t>
                      </a: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진동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당 코인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+ 1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2)</a:t>
                      </a:r>
                    </a:p>
                    <a:p>
                      <a:pPr algn="l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 횟수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진동</a:t>
                      </a:r>
                      <a:r>
                        <a:rPr lang="en-US" altLang="ko-KR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영속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으로 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변환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및 </a:t>
                      </a:r>
                      <a:r>
                        <a:rPr lang="ko-KR" altLang="en-US" sz="1400" b="0" dirty="0">
                          <a:solidFill>
                            <a:srgbClr val="C00000"/>
                          </a:solidFill>
                        </a:rPr>
                        <a:t>진폭 얽힘</a:t>
                      </a:r>
                      <a:endParaRPr lang="en-US" altLang="ko-KR" sz="1400" b="0" dirty="0">
                        <a:solidFill>
                          <a:srgbClr val="C00000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잔영이 보유한 모든 진동 유형 부여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4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진동 폭발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 발동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9E5E7969-37A2-8E96-CF11-AB97847AC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258012"/>
            <a:ext cx="6573229" cy="166563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E3C0307-85E6-F019-83BB-5BABD2557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495" y="1875684"/>
            <a:ext cx="6194180" cy="1959188"/>
          </a:xfrm>
          <a:prstGeom prst="rect">
            <a:avLst/>
          </a:prstGeom>
        </p:spPr>
      </p:pic>
      <p:sp>
        <p:nvSpPr>
          <p:cNvPr id="14" name="화살표: 왼쪽/오른쪽 13">
            <a:extLst>
              <a:ext uri="{FF2B5EF4-FFF2-40B4-BE49-F238E27FC236}">
                <a16:creationId xmlns:a16="http://schemas.microsoft.com/office/drawing/2014/main" id="{6FE5839F-1F32-83E9-F211-2E60901621F4}"/>
              </a:ext>
            </a:extLst>
          </p:cNvPr>
          <p:cNvSpPr/>
          <p:nvPr/>
        </p:nvSpPr>
        <p:spPr>
          <a:xfrm>
            <a:off x="695324" y="2480561"/>
            <a:ext cx="2232026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1 </a:t>
            </a:r>
            <a:r>
              <a:rPr lang="ko-KR" altLang="en-US" sz="1400" b="1" dirty="0"/>
              <a:t>코인</a:t>
            </a:r>
          </a:p>
        </p:txBody>
      </p:sp>
      <p:sp>
        <p:nvSpPr>
          <p:cNvPr id="15" name="화살표: 왼쪽/오른쪽 14">
            <a:extLst>
              <a:ext uri="{FF2B5EF4-FFF2-40B4-BE49-F238E27FC236}">
                <a16:creationId xmlns:a16="http://schemas.microsoft.com/office/drawing/2014/main" id="{5B9FAD06-5860-3AF2-50D8-308AB01A4DBD}"/>
              </a:ext>
            </a:extLst>
          </p:cNvPr>
          <p:cNvSpPr/>
          <p:nvPr/>
        </p:nvSpPr>
        <p:spPr>
          <a:xfrm>
            <a:off x="3070469" y="2480561"/>
            <a:ext cx="1415806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2 </a:t>
            </a:r>
            <a:r>
              <a:rPr lang="ko-KR" altLang="en-US" sz="1400" b="1" dirty="0"/>
              <a:t>코인</a:t>
            </a:r>
          </a:p>
        </p:txBody>
      </p:sp>
      <p:sp>
        <p:nvSpPr>
          <p:cNvPr id="16" name="화살표: 왼쪽/오른쪽 15">
            <a:extLst>
              <a:ext uri="{FF2B5EF4-FFF2-40B4-BE49-F238E27FC236}">
                <a16:creationId xmlns:a16="http://schemas.microsoft.com/office/drawing/2014/main" id="{66DDC6F6-8F4C-2F0F-E000-B88949A13F14}"/>
              </a:ext>
            </a:extLst>
          </p:cNvPr>
          <p:cNvSpPr/>
          <p:nvPr/>
        </p:nvSpPr>
        <p:spPr>
          <a:xfrm>
            <a:off x="4567238" y="2480561"/>
            <a:ext cx="1309687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3 </a:t>
            </a:r>
            <a:r>
              <a:rPr lang="ko-KR" altLang="en-US" sz="1400" b="1" dirty="0"/>
              <a:t>코인</a:t>
            </a:r>
          </a:p>
        </p:txBody>
      </p:sp>
      <p:sp>
        <p:nvSpPr>
          <p:cNvPr id="17" name="화살표: 왼쪽/오른쪽 16">
            <a:extLst>
              <a:ext uri="{FF2B5EF4-FFF2-40B4-BE49-F238E27FC236}">
                <a16:creationId xmlns:a16="http://schemas.microsoft.com/office/drawing/2014/main" id="{B7CE2386-4126-5B9B-1E1F-ED641B58F96F}"/>
              </a:ext>
            </a:extLst>
          </p:cNvPr>
          <p:cNvSpPr/>
          <p:nvPr/>
        </p:nvSpPr>
        <p:spPr>
          <a:xfrm>
            <a:off x="7119938" y="3531308"/>
            <a:ext cx="3226600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4 </a:t>
            </a:r>
            <a:r>
              <a:rPr lang="ko-KR" altLang="en-US" sz="1400" b="1" dirty="0"/>
              <a:t>코인</a:t>
            </a:r>
          </a:p>
        </p:txBody>
      </p:sp>
    </p:spTree>
    <p:extLst>
      <p:ext uri="{BB962C8B-B14F-4D97-AF65-F5344CB8AC3E}">
        <p14:creationId xmlns:p14="http://schemas.microsoft.com/office/powerpoint/2010/main" val="265000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8F40-AC4A-D75C-5CAD-0AEF50CAA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A975376-6DBA-EF35-57D9-8B31A7713237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수비 스킬 </a:t>
            </a:r>
            <a:r>
              <a:rPr lang="ko-KR" altLang="en-US" sz="2400" dirty="0"/>
              <a:t>시간의 잔영</a:t>
            </a:r>
            <a:endParaRPr lang="en-US" altLang="ko-KR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F4BF799-45F6-7967-65B4-5A66AAEE6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6928"/>
              </p:ext>
            </p:extLst>
          </p:nvPr>
        </p:nvGraphicFramePr>
        <p:xfrm>
          <a:off x="2394229" y="4104604"/>
          <a:ext cx="24803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방어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강화 방어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accent4"/>
                          </a:solidFill>
                          <a:highlight>
                            <a:srgbClr val="C0C0C0"/>
                          </a:highlight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chemeClr val="accent4"/>
                          </a:solidFill>
                          <a:highlight>
                            <a:srgbClr val="C0C0C0"/>
                          </a:highlight>
                        </a:rPr>
                        <a:t>나태</a:t>
                      </a:r>
                      <a:r>
                        <a:rPr lang="en-US" altLang="ko-KR" sz="1600" b="0" dirty="0">
                          <a:solidFill>
                            <a:schemeClr val="accent4"/>
                          </a:solidFill>
                          <a:highlight>
                            <a:srgbClr val="C0C0C0"/>
                          </a:highlight>
                        </a:rPr>
                        <a:t>]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 </a:t>
                      </a:r>
                      <a:endParaRPr lang="en-US" altLang="ko-KR" sz="1600" b="0" dirty="0">
                        <a:solidFill>
                          <a:schemeClr val="accent4">
                            <a:lumMod val="75000"/>
                          </a:schemeClr>
                        </a:solidFill>
                        <a:highlight>
                          <a:srgbClr val="C0C0C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별로 생성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26E575-47FF-A271-A9C1-E29680D6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339931"/>
              </p:ext>
            </p:extLst>
          </p:nvPr>
        </p:nvGraphicFramePr>
        <p:xfrm>
          <a:off x="5448727" y="3960852"/>
          <a:ext cx="482949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9493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합 가능 가드</a:t>
                      </a:r>
                      <a:r>
                        <a:rPr lang="en-US" altLang="ko-KR" sz="14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시작 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변환한 스킬 종류의 잔영이 없으면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해당 잔영 생성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턴 당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잔영 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초침</a:t>
                      </a:r>
                      <a:r>
                        <a:rPr lang="en-US" altLang="ko-KR" sz="1400" b="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 없고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꿰뚫어 내치기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변환하여 사용하면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다음 턴에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꿰뚫어 내치기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개 생성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4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변환한 스킬 종류의 잔영이 생성 되어 있으면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합 위력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1CA8A29E-AE97-6469-22F8-F9976DF4C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820" y="1175613"/>
            <a:ext cx="4188946" cy="17429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53221E4-0DD3-4971-FBA4-F31ECD291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386" y="1239682"/>
            <a:ext cx="3445212" cy="12699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B773BB0-AB90-852C-37CC-97F291F10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997" y="2269836"/>
            <a:ext cx="5386977" cy="1616656"/>
          </a:xfrm>
          <a:prstGeom prst="rect">
            <a:avLst/>
          </a:prstGeom>
        </p:spPr>
      </p:pic>
      <p:sp>
        <p:nvSpPr>
          <p:cNvPr id="14" name="화살표: 왼쪽/오른쪽 13">
            <a:extLst>
              <a:ext uri="{FF2B5EF4-FFF2-40B4-BE49-F238E27FC236}">
                <a16:creationId xmlns:a16="http://schemas.microsoft.com/office/drawing/2014/main" id="{41703781-97F1-A167-00A2-5EDF386B3AF1}"/>
              </a:ext>
            </a:extLst>
          </p:cNvPr>
          <p:cNvSpPr/>
          <p:nvPr/>
        </p:nvSpPr>
        <p:spPr>
          <a:xfrm>
            <a:off x="2680805" y="2410636"/>
            <a:ext cx="1956746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시침 잔영 생성</a:t>
            </a:r>
          </a:p>
        </p:txBody>
      </p:sp>
      <p:sp>
        <p:nvSpPr>
          <p:cNvPr id="15" name="화살표: 왼쪽/오른쪽 14">
            <a:extLst>
              <a:ext uri="{FF2B5EF4-FFF2-40B4-BE49-F238E27FC236}">
                <a16:creationId xmlns:a16="http://schemas.microsoft.com/office/drawing/2014/main" id="{F9971543-FE4E-ECEC-7C4A-E2D689CC6D77}"/>
              </a:ext>
            </a:extLst>
          </p:cNvPr>
          <p:cNvSpPr/>
          <p:nvPr/>
        </p:nvSpPr>
        <p:spPr>
          <a:xfrm>
            <a:off x="6412489" y="2410636"/>
            <a:ext cx="1956746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분침 잔영 생성</a:t>
            </a:r>
          </a:p>
        </p:txBody>
      </p:sp>
      <p:sp>
        <p:nvSpPr>
          <p:cNvPr id="16" name="화살표: 왼쪽/오른쪽 15">
            <a:extLst>
              <a:ext uri="{FF2B5EF4-FFF2-40B4-BE49-F238E27FC236}">
                <a16:creationId xmlns:a16="http://schemas.microsoft.com/office/drawing/2014/main" id="{25FCDD28-1A65-1EDC-3702-71C2D3459E32}"/>
              </a:ext>
            </a:extLst>
          </p:cNvPr>
          <p:cNvSpPr/>
          <p:nvPr/>
        </p:nvSpPr>
        <p:spPr>
          <a:xfrm>
            <a:off x="4775739" y="3621643"/>
            <a:ext cx="1956746" cy="221542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초침 잔영 생성</a:t>
            </a:r>
          </a:p>
        </p:txBody>
      </p:sp>
    </p:spTree>
    <p:extLst>
      <p:ext uri="{BB962C8B-B14F-4D97-AF65-F5344CB8AC3E}">
        <p14:creationId xmlns:p14="http://schemas.microsoft.com/office/powerpoint/2010/main" val="2384691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3669D-B035-097C-E189-E5401D61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FFD6712-FC8A-7828-799F-4278B684802C}"/>
              </a:ext>
            </a:extLst>
          </p:cNvPr>
          <p:cNvSpPr txBox="1">
            <a:spLocks/>
          </p:cNvSpPr>
          <p:nvPr/>
        </p:nvSpPr>
        <p:spPr>
          <a:xfrm>
            <a:off x="2724417" y="2826553"/>
            <a:ext cx="6743166" cy="1204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4800" dirty="0"/>
              <a:t>Q &amp; A</a:t>
            </a:r>
            <a:endParaRPr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1945385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7874</TotalTime>
  <Pages>7</Pages>
  <Words>925</Words>
  <Characters>0</Characters>
  <Application>Microsoft Office PowerPoint</Application>
  <DocSecurity>0</DocSecurity>
  <PresentationFormat>와이드스크린</PresentationFormat>
  <Lines>0</Lines>
  <Paragraphs>178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Limbus Company 캐릭터(인격) 기획서 E.G.O::영속 - 파우스트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yjk0401</dc:creator>
  <cp:lastModifiedBy>정근 윤</cp:lastModifiedBy>
  <cp:revision>4639</cp:revision>
  <dcterms:modified xsi:type="dcterms:W3CDTF">2025-09-16T20:09:27Z</dcterms:modified>
  <cp:version>9.103.97.45139</cp:version>
</cp:coreProperties>
</file>