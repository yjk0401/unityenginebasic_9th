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0" r:id="rId1"/>
  </p:sldMasterIdLst>
  <p:notesMasterIdLst>
    <p:notesMasterId r:id="rId33"/>
  </p:notesMasterIdLst>
  <p:handoutMasterIdLst>
    <p:handoutMasterId r:id="rId34"/>
  </p:handoutMasterIdLst>
  <p:sldIdLst>
    <p:sldId id="256" r:id="rId2"/>
    <p:sldId id="425" r:id="rId3"/>
    <p:sldId id="387" r:id="rId4"/>
    <p:sldId id="386" r:id="rId5"/>
    <p:sldId id="395" r:id="rId6"/>
    <p:sldId id="396" r:id="rId7"/>
    <p:sldId id="397" r:id="rId8"/>
    <p:sldId id="399" r:id="rId9"/>
    <p:sldId id="400" r:id="rId10"/>
    <p:sldId id="418" r:id="rId11"/>
    <p:sldId id="405" r:id="rId12"/>
    <p:sldId id="401" r:id="rId13"/>
    <p:sldId id="402" r:id="rId14"/>
    <p:sldId id="419" r:id="rId15"/>
    <p:sldId id="408" r:id="rId16"/>
    <p:sldId id="403" r:id="rId17"/>
    <p:sldId id="404" r:id="rId18"/>
    <p:sldId id="420" r:id="rId19"/>
    <p:sldId id="407" r:id="rId20"/>
    <p:sldId id="410" r:id="rId21"/>
    <p:sldId id="409" r:id="rId22"/>
    <p:sldId id="412" r:id="rId23"/>
    <p:sldId id="413" r:id="rId24"/>
    <p:sldId id="414" r:id="rId25"/>
    <p:sldId id="421" r:id="rId26"/>
    <p:sldId id="422" r:id="rId27"/>
    <p:sldId id="423" r:id="rId28"/>
    <p:sldId id="415" r:id="rId29"/>
    <p:sldId id="416" r:id="rId30"/>
    <p:sldId id="417" r:id="rId31"/>
    <p:sldId id="424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2364" userDrawn="1">
          <p15:clr>
            <a:srgbClr val="A4A3A4"/>
          </p15:clr>
        </p15:guide>
        <p15:guide id="2" orient="horz" pos="6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9" userDrawn="1">
          <p15:clr>
            <a:srgbClr val="A4A3A4"/>
          </p15:clr>
        </p15:guide>
        <p15:guide id="6" orient="horz" pos="232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pos="438" userDrawn="1">
          <p15:clr>
            <a:srgbClr val="A4A3A4"/>
          </p15:clr>
        </p15:guide>
        <p15:guide id="9" pos="7242" userDrawn="1">
          <p15:clr>
            <a:srgbClr val="A4A3A4"/>
          </p15:clr>
        </p15:guide>
        <p15:guide id="10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pos="3825">
          <p15:clr>
            <a:srgbClr val="A4A3A4"/>
          </p15:clr>
        </p15:guide>
        <p15:guide id="2" orient="horz" pos="2150">
          <p15:clr>
            <a:srgbClr val="A4A3A4"/>
          </p15:clr>
        </p15:guide>
        <p15:guide id="3" orient="horz" pos="907">
          <p15:clr>
            <a:srgbClr val="A4A3A4"/>
          </p15:clr>
        </p15:guide>
        <p15:guide id="4" orient="horz" pos="3988">
          <p15:clr>
            <a:srgbClr val="A4A3A4"/>
          </p15:clr>
        </p15:guide>
        <p15:guide id="5" pos="209">
          <p15:clr>
            <a:srgbClr val="A4A3A4"/>
          </p15:clr>
        </p15:guide>
        <p15:guide id="6" pos="7445">
          <p15:clr>
            <a:srgbClr val="A4A3A4"/>
          </p15:clr>
        </p15:guide>
        <p15:guide id="7" orient="horz" pos="11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48235"/>
    <a:srgbClr val="A6A6A6"/>
    <a:srgbClr val="FF8585"/>
    <a:srgbClr val="7F7F7F"/>
    <a:srgbClr val="C55A11"/>
    <a:srgbClr val="F8CBAD"/>
    <a:srgbClr val="BDD7EE"/>
    <a:srgbClr val="7C7C7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6279" autoAdjust="0"/>
  </p:normalViewPr>
  <p:slideViewPr>
    <p:cSldViewPr snapToGrid="0" snapToObjects="1" showGuides="1">
      <p:cViewPr>
        <p:scale>
          <a:sx n="100" d="100"/>
          <a:sy n="100" d="100"/>
        </p:scale>
        <p:origin x="-192" y="264"/>
      </p:cViewPr>
      <p:guideLst>
        <p:guide pos="3840"/>
        <p:guide orient="horz" pos="2364"/>
        <p:guide orient="horz" pos="640"/>
        <p:guide orient="horz" pos="4088"/>
        <p:guide pos="211"/>
        <p:guide pos="7469"/>
        <p:guide orient="horz" pos="232"/>
        <p:guide orient="horz" pos="799"/>
        <p:guide pos="438"/>
        <p:guide pos="7242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9" d="100"/>
          <a:sy n="79" d="100"/>
        </p:scale>
        <p:origin x="2550" y="102"/>
      </p:cViewPr>
      <p:guideLst>
        <p:guide pos="3825"/>
        <p:guide orient="horz" pos="2150"/>
        <p:guide orient="horz" pos="907"/>
        <p:guide orient="horz" pos="3988"/>
        <p:guide pos="209"/>
        <p:guide pos="7445"/>
        <p:guide orient="horz" pos="11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2025-06-23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p:hf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  <p:hf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  <p:hf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40105" y="1681480"/>
            <a:ext cx="5157470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480"/>
            <a:ext cx="5183505" cy="8235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  <p:hf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  <p:hf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  <p:hf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  <p:hf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  <p:hf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6235" cy="435229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  <p:hf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215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215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  <p:hf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>
            <a:lvl1pPr marL="0" indent="0" algn="l" latinLnBrk="0">
              <a:buFontTx/>
              <a:buNone/>
              <a:defRPr lang="en-GB" alt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en-GB" altLang="en-US"/>
              <a:t>23/06/2025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5400" dirty="0"/>
              <a:t>Limbus Company</a:t>
            </a:r>
            <a:br>
              <a:rPr lang="en-US" altLang="ko-KR" sz="4400" dirty="0"/>
            </a:br>
            <a:r>
              <a:rPr lang="ko-KR" altLang="en-US" sz="4400" dirty="0"/>
              <a:t>거울 던전 변질 </a:t>
            </a:r>
            <a:r>
              <a:rPr lang="en-US" altLang="ko-KR" sz="4400" dirty="0"/>
              <a:t>- </a:t>
            </a:r>
            <a:r>
              <a:rPr lang="ko-KR" altLang="en-US" sz="4400" dirty="0"/>
              <a:t>황혼의 숲</a:t>
            </a:r>
            <a:br>
              <a:rPr lang="en-US" altLang="ko-KR" sz="4400" dirty="0"/>
            </a:br>
            <a:r>
              <a:rPr lang="ko-KR" altLang="en-US" sz="3600" dirty="0"/>
              <a:t>컨텐츠 기획서</a:t>
            </a:r>
            <a:endParaRPr lang="ko-KR" altLang="en-US" sz="4400" dirty="0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algn="r" latinLnBrk="0">
              <a:buFontTx/>
              <a:buNone/>
            </a:pPr>
            <a:r>
              <a:rPr lang="ko-KR" altLang="en-US" dirty="0"/>
              <a:t>윤정근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B5B0-6B73-EADF-1F49-813DFC93C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E1EABCF-0CB1-55C2-2F89-549965A4F55A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기획 의도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66D2182-393F-9B62-1843-89C41C68A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245992"/>
              </p:ext>
            </p:extLst>
          </p:nvPr>
        </p:nvGraphicFramePr>
        <p:xfrm>
          <a:off x="1318259" y="3067050"/>
          <a:ext cx="9555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5480">
                  <a:extLst>
                    <a:ext uri="{9D8B030D-6E8A-4147-A177-3AD203B41FA5}">
                      <a16:colId xmlns:a16="http://schemas.microsoft.com/office/drawing/2014/main" val="2619519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현재 거울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던전은 높은 성능의 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E.G.O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기프트를 많이 획득해도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해당 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E.G.O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기프트 조합의 성능을 시험해 볼 환경이 부족하다고 생각한다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그렇기에 기존의 일반통행식 방식과 다르게 특정 조건을 만족했을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경우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새로운 선택지로 진입하여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도전할 수 있게 하는 것으로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플레이어가 얻을 수 있는 경험을 다양하게 하고 도전심을 자극한다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759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21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B55BA1-AC58-80B6-E254-9B6FA0D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FEFD559C-3BA2-B517-5EB3-4F617E19DD3F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던전 구조</a:t>
            </a:r>
            <a:endParaRPr lang="en-US" altLang="ko-KR" sz="32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2BFB6A-4203-9A41-9640-E616C284F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447078"/>
              </p:ext>
            </p:extLst>
          </p:nvPr>
        </p:nvGraphicFramePr>
        <p:xfrm>
          <a:off x="854430" y="2052430"/>
          <a:ext cx="2597495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841">
                  <a:extLst>
                    <a:ext uri="{9D8B030D-6E8A-4147-A177-3AD203B41FA5}">
                      <a16:colId xmlns:a16="http://schemas.microsoft.com/office/drawing/2014/main" val="4135473933"/>
                    </a:ext>
                  </a:extLst>
                </a:gridCol>
                <a:gridCol w="1833654">
                  <a:extLst>
                    <a:ext uri="{9D8B030D-6E8A-4147-A177-3AD203B41FA5}">
                      <a16:colId xmlns:a16="http://schemas.microsoft.com/office/drawing/2014/main" val="6278942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기존 거울 던전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871808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Hard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934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5092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32313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2314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863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평행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중첩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6~10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968494"/>
                  </a:ext>
                </a:extLst>
              </a:tr>
            </a:tbl>
          </a:graphicData>
        </a:graphic>
      </p:graphicFrame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EBE58E4C-C5B9-BAB2-86CA-DD6A7C3DD5EA}"/>
              </a:ext>
            </a:extLst>
          </p:cNvPr>
          <p:cNvSpPr/>
          <p:nvPr/>
        </p:nvSpPr>
        <p:spPr>
          <a:xfrm>
            <a:off x="3669886" y="2587590"/>
            <a:ext cx="435923" cy="2093702"/>
          </a:xfrm>
          <a:prstGeom prst="rightBrace">
            <a:avLst>
              <a:gd name="adj1" fmla="val 67604"/>
              <a:gd name="adj2" fmla="val 50000"/>
            </a:avLst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ED521EA-355F-0231-C8F8-63F7A3A51445}"/>
              </a:ext>
            </a:extLst>
          </p:cNvPr>
          <p:cNvGrpSpPr/>
          <p:nvPr/>
        </p:nvGrpSpPr>
        <p:grpSpPr>
          <a:xfrm>
            <a:off x="4323770" y="1965510"/>
            <a:ext cx="4124838" cy="3337862"/>
            <a:chOff x="4205470" y="1504683"/>
            <a:chExt cx="4124838" cy="3337862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1F6C1E5-F821-51EE-DDC7-15AFABBA2405}"/>
                </a:ext>
              </a:extLst>
            </p:cNvPr>
            <p:cNvSpPr/>
            <p:nvPr/>
          </p:nvSpPr>
          <p:spPr>
            <a:xfrm>
              <a:off x="4205470" y="1504683"/>
              <a:ext cx="4124838" cy="7757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신규 특정 </a:t>
              </a:r>
              <a:r>
                <a:rPr lang="en-US" altLang="ko-KR" dirty="0">
                  <a:solidFill>
                    <a:schemeClr val="tx1"/>
                  </a:solidFill>
                </a:rPr>
                <a:t>E.G.O</a:t>
              </a:r>
              <a:r>
                <a:rPr lang="ko-KR" altLang="en-US" dirty="0">
                  <a:solidFill>
                    <a:schemeClr val="tx1"/>
                  </a:solidFill>
                </a:rPr>
                <a:t> 기프트 </a:t>
              </a:r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r>
                <a:rPr lang="ko-KR" altLang="en-US" dirty="0">
                  <a:solidFill>
                    <a:schemeClr val="tx1"/>
                  </a:solidFill>
                </a:rPr>
                <a:t>개 획득 후 </a:t>
              </a:r>
              <a:r>
                <a:rPr lang="en-US" altLang="ko-KR" dirty="0">
                  <a:solidFill>
                    <a:schemeClr val="tx1"/>
                  </a:solidFill>
                </a:rPr>
                <a:t>‘</a:t>
              </a:r>
              <a:r>
                <a:rPr lang="ko-KR" altLang="en-US" dirty="0">
                  <a:solidFill>
                    <a:schemeClr val="tx1"/>
                  </a:solidFill>
                </a:rPr>
                <a:t>검은 숲의 숲지기</a:t>
              </a:r>
              <a:r>
                <a:rPr lang="en-US" altLang="ko-KR" dirty="0">
                  <a:solidFill>
                    <a:schemeClr val="tx1"/>
                  </a:solidFill>
                </a:rPr>
                <a:t>’</a:t>
              </a:r>
              <a:r>
                <a:rPr lang="ko-KR" altLang="en-US" dirty="0">
                  <a:solidFill>
                    <a:schemeClr val="tx1"/>
                  </a:solidFill>
                </a:rPr>
                <a:t> 보스 전 입장 가능 </a:t>
              </a:r>
            </a:p>
          </p:txBody>
        </p:sp>
        <p:pic>
          <p:nvPicPr>
            <p:cNvPr id="19" name="그림 18" descr="스크린샷, 원, 라인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E72A935-C1B1-7E74-EDA8-0BAC7B045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5470" y="2315280"/>
              <a:ext cx="4124838" cy="252726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7F08EC8-BE66-306E-6E00-5E70D7929319}"/>
              </a:ext>
            </a:extLst>
          </p:cNvPr>
          <p:cNvGrpSpPr/>
          <p:nvPr/>
        </p:nvGrpSpPr>
        <p:grpSpPr>
          <a:xfrm>
            <a:off x="8744157" y="2488999"/>
            <a:ext cx="2647522" cy="1589614"/>
            <a:chOff x="8706913" y="2286094"/>
            <a:chExt cx="2647522" cy="158961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CA7DEFD-40FF-470D-C819-82F44B6EAC50}"/>
                </a:ext>
              </a:extLst>
            </p:cNvPr>
            <p:cNvSpPr/>
            <p:nvPr/>
          </p:nvSpPr>
          <p:spPr>
            <a:xfrm>
              <a:off x="8706913" y="2286094"/>
              <a:ext cx="2647522" cy="628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‘</a:t>
              </a:r>
              <a:r>
                <a:rPr lang="ko-KR" altLang="en-US" dirty="0">
                  <a:solidFill>
                    <a:schemeClr val="tx1"/>
                  </a:solidFill>
                </a:rPr>
                <a:t>검은 숲의 숲지기</a:t>
              </a:r>
              <a:r>
                <a:rPr lang="en-US" altLang="ko-KR" dirty="0">
                  <a:solidFill>
                    <a:schemeClr val="tx1"/>
                  </a:solidFill>
                </a:rPr>
                <a:t>’</a:t>
              </a: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클리어 후 검은 숲 입장</a:t>
              </a:r>
            </a:p>
          </p:txBody>
        </p:sp>
        <p:pic>
          <p:nvPicPr>
            <p:cNvPr id="22" name="그림 21" descr="스크린샷, 보라색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AA2469B-9CE9-6798-9866-4A38FFACC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1908" y="3032676"/>
              <a:ext cx="2437531" cy="843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5168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AEA7-79E3-502E-509C-DF5DDCA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36482B7-5B29-4FB0-B905-DE64440A732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던전 고유 기믹 </a:t>
            </a:r>
            <a:r>
              <a:rPr lang="en-US" altLang="ko-KR" sz="2400" dirty="0"/>
              <a:t>– </a:t>
            </a:r>
            <a:r>
              <a:rPr lang="ko-KR" altLang="en-US" sz="2400" dirty="0"/>
              <a:t>일회용 </a:t>
            </a:r>
            <a:r>
              <a:rPr lang="en-US" altLang="ko-KR" sz="2400" dirty="0"/>
              <a:t>E.G.O </a:t>
            </a:r>
            <a:r>
              <a:rPr lang="ko-KR" altLang="en-US" sz="2400" dirty="0"/>
              <a:t>기프트</a:t>
            </a:r>
            <a:endParaRPr lang="en-US" altLang="ko-KR" sz="2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4CA2CD6-6770-C442-DF48-8012268D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039" y="2076447"/>
            <a:ext cx="2752725" cy="990600"/>
          </a:xfrm>
          <a:prstGeom prst="rect">
            <a:avLst/>
          </a:prstGeom>
        </p:spPr>
      </p:pic>
      <p:graphicFrame>
        <p:nvGraphicFramePr>
          <p:cNvPr id="16" name="표 2">
            <a:extLst>
              <a:ext uri="{FF2B5EF4-FFF2-40B4-BE49-F238E27FC236}">
                <a16:creationId xmlns:a16="http://schemas.microsoft.com/office/drawing/2014/main" id="{CBA80BE7-3BCE-ED6B-2218-9D069C09F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918341"/>
              </p:ext>
            </p:extLst>
          </p:nvPr>
        </p:nvGraphicFramePr>
        <p:xfrm>
          <a:off x="1055528" y="2837307"/>
          <a:ext cx="667829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8295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일회용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E.O.G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규칙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41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일반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E.O.G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기프트와 달리 다수 획득할 수 있다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6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E.O.G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기프트는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사용 시 소모되어 사라진다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23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중에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E.O.G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인벤토리를 개방하여 활성화 하는 것으로 사용할 수 있다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2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 E.O.G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기프트를 사용하더라도 스테이지를 클리어하지 않으면 소모되지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113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4C4536E-7D55-5014-18DD-29A06E26A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18199"/>
              </p:ext>
            </p:extLst>
          </p:nvPr>
        </p:nvGraphicFramePr>
        <p:xfrm>
          <a:off x="1055527" y="2076447"/>
          <a:ext cx="544004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045">
                  <a:extLst>
                    <a:ext uri="{9D8B030D-6E8A-4147-A177-3AD203B41FA5}">
                      <a16:colId xmlns:a16="http://schemas.microsoft.com/office/drawing/2014/main" val="3641884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일회용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E.O.G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57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검은 숲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에서만 획득 및 사용할 수 있는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‘E.O.G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기프트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6264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09BDE456-13A6-7C1C-637F-1D110D249A02}"/>
              </a:ext>
            </a:extLst>
          </p:cNvPr>
          <p:cNvSpPr txBox="1"/>
          <p:nvPr/>
        </p:nvSpPr>
        <p:spPr>
          <a:xfrm>
            <a:off x="8222750" y="3096300"/>
            <a:ext cx="2752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E.O.G </a:t>
            </a:r>
            <a:r>
              <a:rPr lang="ko-KR" altLang="en-US" sz="1600" b="1" dirty="0"/>
              <a:t>기프트 인벤토리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4D6B8EB-C647-8588-5DBD-9EF1461888DB}"/>
              </a:ext>
            </a:extLst>
          </p:cNvPr>
          <p:cNvGrpSpPr/>
          <p:nvPr/>
        </p:nvGrpSpPr>
        <p:grpSpPr>
          <a:xfrm>
            <a:off x="8433745" y="4742825"/>
            <a:ext cx="2318318" cy="664338"/>
            <a:chOff x="8433745" y="3597818"/>
            <a:chExt cx="2318318" cy="66433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92283DA-7A13-33FE-6F98-031AE2104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3745" y="3597819"/>
              <a:ext cx="655928" cy="664337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450B21E-838C-27B9-92B6-2A3DD1CDA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64940" y="3597819"/>
              <a:ext cx="655928" cy="664337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B8DD8A5-A1B4-DAEF-E00B-400FA25A5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96135" y="3597818"/>
              <a:ext cx="655928" cy="664337"/>
            </a:xfrm>
            <a:prstGeom prst="rect">
              <a:avLst/>
            </a:prstGeom>
          </p:spPr>
        </p:pic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729147-FC43-37BF-3E12-CC4049E39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52380"/>
              </p:ext>
            </p:extLst>
          </p:nvPr>
        </p:nvGraphicFramePr>
        <p:xfrm>
          <a:off x="1055527" y="4997705"/>
          <a:ext cx="701484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4845">
                  <a:extLst>
                    <a:ext uri="{9D8B030D-6E8A-4147-A177-3AD203B41FA5}">
                      <a16:colId xmlns:a16="http://schemas.microsoft.com/office/drawing/2014/main" val="3641884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환상체 소환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57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검은 숲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에서만 획득  수 있는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‘E.O.G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기프트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전투 시작 시 특정 환상체가 등장한다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626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A5A74F-A337-B050-C031-75432C43A736}"/>
              </a:ext>
            </a:extLst>
          </p:cNvPr>
          <p:cNvSpPr txBox="1"/>
          <p:nvPr/>
        </p:nvSpPr>
        <p:spPr>
          <a:xfrm>
            <a:off x="8222750" y="5560132"/>
            <a:ext cx="2752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환상체 소환 </a:t>
            </a:r>
            <a:r>
              <a:rPr lang="en-US" altLang="ko-KR" sz="1600" b="1" dirty="0"/>
              <a:t>E.G.O </a:t>
            </a:r>
            <a:r>
              <a:rPr lang="ko-KR" altLang="en-US" sz="1600" b="1" dirty="0"/>
              <a:t>기프트</a:t>
            </a:r>
          </a:p>
        </p:txBody>
      </p:sp>
    </p:spTree>
    <p:extLst>
      <p:ext uri="{BB962C8B-B14F-4D97-AF65-F5344CB8AC3E}">
        <p14:creationId xmlns:p14="http://schemas.microsoft.com/office/powerpoint/2010/main" val="293138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EDCE-F2C4-AACA-D6D2-156816628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0685A3C-95E1-5522-576F-B0518D6AA277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일반 </a:t>
            </a:r>
            <a:r>
              <a:rPr lang="en-US" altLang="ko-KR" sz="3200" dirty="0"/>
              <a:t>E.G.O </a:t>
            </a:r>
            <a:r>
              <a:rPr lang="ko-KR" altLang="en-US" sz="3200" dirty="0"/>
              <a:t>기프트 </a:t>
            </a:r>
            <a:r>
              <a:rPr lang="en-US" altLang="ko-KR" sz="2400" dirty="0"/>
              <a:t>- </a:t>
            </a:r>
            <a:r>
              <a:rPr lang="ko-KR" altLang="en-US" sz="2400" dirty="0"/>
              <a:t>검은 숲 입장 조건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2242524-F758-9402-032C-D310EC8BD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118701"/>
              </p:ext>
            </p:extLst>
          </p:nvPr>
        </p:nvGraphicFramePr>
        <p:xfrm>
          <a:off x="3636490" y="1532843"/>
          <a:ext cx="6462456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614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빈 램프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부러진 솟대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녹슨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과 함께 보유할 경우 검은 숲으로 가는 길이 열린다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검은 숲 입장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변한다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07FB675-89B2-1AFB-28D3-E21081FBE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751711"/>
              </p:ext>
            </p:extLst>
          </p:nvPr>
        </p:nvGraphicFramePr>
        <p:xfrm>
          <a:off x="3636490" y="3028762"/>
          <a:ext cx="6462456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614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부러진 솟대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빈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녹슨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과 함께 보유할 경우 검은 숲으로 가는 길이 열린다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검은 숲 입장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작은 솟대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변한다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BAFBC51-7089-68C0-B234-3A75D6DBB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445112"/>
              </p:ext>
            </p:extLst>
          </p:nvPr>
        </p:nvGraphicFramePr>
        <p:xfrm>
          <a:off x="3636490" y="4524681"/>
          <a:ext cx="6462456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614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615614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녹슨 저울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빈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부러진 솟대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와 함께 보유할 경우 검은 숲으로 가는 길이 열린다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검은 숲 입장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변한다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BFCD5F80-41B0-6610-D413-C496D14B0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98" y="3028762"/>
            <a:ext cx="1414426" cy="143256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38FEEAC-8EBE-FC79-9C6A-9AD27DDC3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898" y="1532843"/>
            <a:ext cx="1414426" cy="143256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3129AA8-FADD-B42B-D98F-74612591A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898" y="4524681"/>
            <a:ext cx="1414426" cy="143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6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9E76-5190-7A22-7DD5-9385093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3E86077-43FD-1C97-F281-F715FF1111FF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일반 </a:t>
            </a:r>
            <a:r>
              <a:rPr lang="en-US" altLang="ko-KR" sz="3200" dirty="0"/>
              <a:t>E.G.O </a:t>
            </a:r>
            <a:r>
              <a:rPr lang="ko-KR" altLang="en-US" sz="3200" dirty="0"/>
              <a:t>기프트 </a:t>
            </a:r>
            <a:r>
              <a:rPr lang="en-US" altLang="ko-KR" sz="2400" dirty="0"/>
              <a:t>– </a:t>
            </a:r>
            <a:r>
              <a:rPr lang="ko-KR" altLang="en-US" sz="2400" dirty="0"/>
              <a:t>검은 숲의 괴물 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C607948-5CFD-D594-22B1-80CFF1B6A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38434"/>
              </p:ext>
            </p:extLst>
          </p:nvPr>
        </p:nvGraphicFramePr>
        <p:xfrm>
          <a:off x="3256346" y="1532843"/>
          <a:ext cx="719486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소환된다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큰 새는 숲에 침입자가 없는지 감시하기로 했어요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F7416DC-098D-D9D3-7AF4-AB780C475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574358"/>
              </p:ext>
            </p:extLst>
          </p:nvPr>
        </p:nvGraphicFramePr>
        <p:xfrm>
          <a:off x="3256346" y="3028762"/>
          <a:ext cx="719486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작은 솟대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작은 솟대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소환된다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작은 새는 자신의 부리를 이용하여 나쁜 짓을 저지른 생물들에게 벌을 주기로 했습니다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8EB6B12-D2AE-5C55-C331-FA6335773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50181"/>
              </p:ext>
            </p:extLst>
          </p:nvPr>
        </p:nvGraphicFramePr>
        <p:xfrm>
          <a:off x="3256346" y="4524681"/>
          <a:ext cx="719486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 소환된다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 새는 숲의 평화를 위해서 숲에 들어오는 자들의 죄의 무게를 재었습니다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FC31AAE7-1FF1-58CF-1880-4B9710673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753" y="3028760"/>
            <a:ext cx="1414427" cy="143256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E1D40BC-70C2-63B8-9A0B-D49483B6C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753" y="1532841"/>
            <a:ext cx="1414427" cy="14325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1E5D27A-FF9D-9D10-78BC-2549E75F1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753" y="4524679"/>
            <a:ext cx="1414427" cy="14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3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0A0AD-442A-898B-0750-5D833D492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2007763-70A3-1263-DAF8-ED8E95847E62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일반 </a:t>
            </a:r>
            <a:r>
              <a:rPr lang="en-US" altLang="ko-KR" sz="3200" dirty="0"/>
              <a:t>E.G.O </a:t>
            </a:r>
            <a:r>
              <a:rPr lang="ko-KR" altLang="en-US" sz="3200" dirty="0"/>
              <a:t>기프트 </a:t>
            </a:r>
            <a:r>
              <a:rPr lang="en-US" altLang="ko-KR" sz="2400" dirty="0"/>
              <a:t>– </a:t>
            </a:r>
            <a:r>
              <a:rPr lang="ko-KR" altLang="en-US" sz="2400" dirty="0"/>
              <a:t>일회용 </a:t>
            </a:r>
            <a:r>
              <a:rPr lang="en-US" altLang="ko-KR" sz="2400" dirty="0"/>
              <a:t>E.G.O </a:t>
            </a:r>
            <a:r>
              <a:rPr lang="ko-KR" altLang="en-US" sz="2400" dirty="0"/>
              <a:t>기프트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8698668-C612-7E74-7411-FCA8B6D1F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96386"/>
              </p:ext>
            </p:extLst>
          </p:nvPr>
        </p:nvGraphicFramePr>
        <p:xfrm>
          <a:off x="2150160" y="1532843"/>
          <a:ext cx="39458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60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끝없는 감시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타겟을 변경한다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DF45BDC-38B9-F9CE-32CE-51662FD70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10318"/>
              </p:ext>
            </p:extLst>
          </p:nvPr>
        </p:nvGraphicFramePr>
        <p:xfrm>
          <a:off x="2150160" y="3028762"/>
          <a:ext cx="39458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60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가혹한 형벌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대상의 흐트러짐을 해제한다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93A43D3-2B6D-7B73-8A27-53D531219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542428"/>
              </p:ext>
            </p:extLst>
          </p:nvPr>
        </p:nvGraphicFramePr>
        <p:xfrm>
          <a:off x="2150160" y="4524681"/>
          <a:ext cx="39458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60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불공정한 심판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대상에게 위력 증가를 부여한다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DA4021B6-C325-D489-5300-5A648A53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0" y="1532843"/>
            <a:ext cx="1203767" cy="12192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B83EA62-5E03-4564-8D04-61BD78C21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99" y="3028762"/>
            <a:ext cx="1203767" cy="12192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0AC8DE7-9008-7C1F-B801-9EC40A653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00" y="4524681"/>
            <a:ext cx="1203767" cy="12192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7A6C524-77F9-84EE-B21A-9F4A69CCD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293" y="1532843"/>
            <a:ext cx="1203767" cy="12192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91EA0C5-54C4-7D37-9886-82946E346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534" y="4524681"/>
            <a:ext cx="1203767" cy="12192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3254202-A1E6-3CCF-C20E-3EC26DA19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292" y="3028762"/>
            <a:ext cx="1203767" cy="1219200"/>
          </a:xfrm>
          <a:prstGeom prst="rect">
            <a:avLst/>
          </a:prstGeom>
        </p:spPr>
      </p:pic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1119E8D-7617-7D50-8864-26027E79E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843561"/>
              </p:ext>
            </p:extLst>
          </p:nvPr>
        </p:nvGraphicFramePr>
        <p:xfrm>
          <a:off x="7550835" y="1532843"/>
          <a:ext cx="39458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60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깃털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대상에게 보호막을 부여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B1CFA9FB-DD46-9414-1376-811776E8A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484228"/>
              </p:ext>
            </p:extLst>
          </p:nvPr>
        </p:nvGraphicFramePr>
        <p:xfrm>
          <a:off x="7550835" y="4524681"/>
          <a:ext cx="39458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60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피 묻은 붕대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 아군의 체력을 회복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31C2E6A2-F97A-27F7-C872-A4C5E2180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035908"/>
              </p:ext>
            </p:extLst>
          </p:nvPr>
        </p:nvGraphicFramePr>
        <p:xfrm>
          <a:off x="7550835" y="3028762"/>
          <a:ext cx="394584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60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986460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탄 잔가지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대상 적에게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잔불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부여 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05E0AAFD-193F-0E99-5BDA-04EA21F81157}"/>
              </a:ext>
            </a:extLst>
          </p:cNvPr>
          <p:cNvSpPr txBox="1"/>
          <p:nvPr/>
        </p:nvSpPr>
        <p:spPr>
          <a:xfrm>
            <a:off x="7550836" y="4247962"/>
            <a:ext cx="3945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dirty="0"/>
              <a:t>잔불 </a:t>
            </a:r>
            <a:r>
              <a:rPr lang="en-US" altLang="ko-KR" sz="1000" dirty="0"/>
              <a:t>: </a:t>
            </a:r>
            <a:r>
              <a:rPr lang="ko-KR" altLang="en-US" sz="1000" dirty="0"/>
              <a:t>피해를 입을 시 위력 만큼 추가 피해를 입는다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27829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DBF48-4777-7147-2760-AE26E703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CF3CA82-DB14-A0F3-8921-AEE599430D00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큰 새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9DD315F-4B41-7F19-BC72-7C3FC28E2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056753"/>
              </p:ext>
            </p:extLst>
          </p:nvPr>
        </p:nvGraphicFramePr>
        <p:xfrm>
          <a:off x="3290393" y="1350379"/>
          <a:ext cx="2805606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805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317801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환상체 명칭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큰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새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식별 번호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O-02-40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985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WAW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2127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스테이터스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5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31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방어력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93598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4F0B5298-649C-25F6-3429-CA4C22964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90" y="1325349"/>
            <a:ext cx="2506270" cy="2427501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C8DC760-B468-0347-C980-1CDA37E4E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983587"/>
              </p:ext>
            </p:extLst>
          </p:nvPr>
        </p:nvGraphicFramePr>
        <p:xfrm>
          <a:off x="6250423" y="1411339"/>
          <a:ext cx="525003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482744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패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큰 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현혹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이끌림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보유한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대상에 현혹 횟수에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큰 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흐트러지거나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이끌림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보유한 대상 공격 시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거짓 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이끌림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 대상 처치 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거짓 구원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거짓 구원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 일정량 이상 획득 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획득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582B4CD7-89CA-7C76-1C40-5384B7422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49997"/>
              </p:ext>
            </p:extLst>
          </p:nvPr>
        </p:nvGraphicFramePr>
        <p:xfrm>
          <a:off x="5464584" y="3633130"/>
          <a:ext cx="60378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561530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워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현혹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대상이 램프로 고정된다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 도달 시 이끌림으로 변경된다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이끌림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조작 불가 상태가 되고 램프를 공격한다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램프에 가하는 피해가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 종료 시 사라진다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거짓 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모순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6553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내가 먼저 생물들을 죽인다면 괴수에게 죽는 생물은 없을 거 아냐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!"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152716"/>
                  </a:ext>
                </a:extLst>
              </a:tr>
            </a:tbl>
          </a:graphicData>
        </a:graphic>
      </p:graphicFrame>
      <p:sp>
        <p:nvSpPr>
          <p:cNvPr id="28" name="타원 27">
            <a:extLst>
              <a:ext uri="{FF2B5EF4-FFF2-40B4-BE49-F238E27FC236}">
                <a16:creationId xmlns:a16="http://schemas.microsoft.com/office/drawing/2014/main" id="{AE642AD0-5F2B-6F42-CEAA-B92B00D97812}"/>
              </a:ext>
            </a:extLst>
          </p:cNvPr>
          <p:cNvSpPr/>
          <p:nvPr/>
        </p:nvSpPr>
        <p:spPr>
          <a:xfrm>
            <a:off x="1654515" y="1520576"/>
            <a:ext cx="1541124" cy="127025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3AA3DE6-F772-00AE-928F-4CF9D2A9A230}"/>
              </a:ext>
            </a:extLst>
          </p:cNvPr>
          <p:cNvSpPr/>
          <p:nvPr/>
        </p:nvSpPr>
        <p:spPr>
          <a:xfrm>
            <a:off x="2590800" y="3179810"/>
            <a:ext cx="604839" cy="59051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35A3572C-7EF4-F30E-95FB-B1AFF070D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913465"/>
              </p:ext>
            </p:extLst>
          </p:nvPr>
        </p:nvGraphicFramePr>
        <p:xfrm>
          <a:off x="1042850" y="3856050"/>
          <a:ext cx="3652440" cy="225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3229847">
                  <a:extLst>
                    <a:ext uri="{9D8B030D-6E8A-4147-A177-3AD203B41FA5}">
                      <a16:colId xmlns:a16="http://schemas.microsoft.com/office/drawing/2014/main" val="443750348"/>
                    </a:ext>
                  </a:extLst>
                </a:gridCol>
              </a:tblGrid>
              <a:tr h="2255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870AE24-989A-66EC-3582-D80A74121ADF}"/>
              </a:ext>
            </a:extLst>
          </p:cNvPr>
          <p:cNvSpPr txBox="1"/>
          <p:nvPr/>
        </p:nvSpPr>
        <p:spPr>
          <a:xfrm>
            <a:off x="2092460" y="5532651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큰 눈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517B15-7EB1-6037-62A5-E2531AAAD03D}"/>
              </a:ext>
            </a:extLst>
          </p:cNvPr>
          <p:cNvSpPr txBox="1"/>
          <p:nvPr/>
        </p:nvSpPr>
        <p:spPr>
          <a:xfrm>
            <a:off x="3710946" y="4417028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램프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45B7F1-550C-4961-7DCE-3E7B2DC48275}"/>
              </a:ext>
            </a:extLst>
          </p:cNvPr>
          <p:cNvSpPr txBox="1"/>
          <p:nvPr/>
        </p:nvSpPr>
        <p:spPr>
          <a:xfrm>
            <a:off x="3316560" y="4983809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큰 입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32BB9DE-3DCA-828E-A31C-78E0F1CCCB8A}"/>
              </a:ext>
            </a:extLst>
          </p:cNvPr>
          <p:cNvSpPr/>
          <p:nvPr/>
        </p:nvSpPr>
        <p:spPr>
          <a:xfrm>
            <a:off x="2234297" y="2800804"/>
            <a:ext cx="1008719" cy="32577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EA3FF61-D7EE-5E1A-D0B8-275296BC1F1D}"/>
              </a:ext>
            </a:extLst>
          </p:cNvPr>
          <p:cNvCxnSpPr>
            <a:stCxn id="28" idx="3"/>
            <a:endCxn id="31" idx="1"/>
          </p:cNvCxnSpPr>
          <p:nvPr/>
        </p:nvCxnSpPr>
        <p:spPr>
          <a:xfrm rot="16200000" flipH="1">
            <a:off x="430076" y="4054932"/>
            <a:ext cx="3112515" cy="212253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CC27037-5430-BDED-41C1-01B3BCCF36AC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 rot="16200000" flipH="1">
            <a:off x="1804488" y="3656403"/>
            <a:ext cx="2089604" cy="934540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FEAAED0D-94D1-43E1-621E-A0000F26BA67}"/>
              </a:ext>
            </a:extLst>
          </p:cNvPr>
          <p:cNvCxnSpPr>
            <a:cxnSpLocks/>
            <a:stCxn id="29" idx="4"/>
            <a:endCxn id="32" idx="1"/>
          </p:cNvCxnSpPr>
          <p:nvPr/>
        </p:nvCxnSpPr>
        <p:spPr>
          <a:xfrm rot="16200000" flipH="1">
            <a:off x="2886398" y="3777146"/>
            <a:ext cx="831370" cy="817726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29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01BC9-AA06-29FF-D6FB-73C6EA2B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3160211-5ABE-B4F5-CA10-8BC2B0A3298A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큰 새 </a:t>
            </a:r>
            <a:r>
              <a:rPr lang="en-US" altLang="ko-KR" sz="2400" dirty="0"/>
              <a:t>(</a:t>
            </a:r>
            <a:r>
              <a:rPr lang="ko-KR" altLang="en-US" sz="2400" dirty="0"/>
              <a:t>부위 별 스킬</a:t>
            </a:r>
            <a:r>
              <a:rPr lang="en-US" altLang="ko-KR" sz="2400" dirty="0"/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8AC5198-521C-5C13-224E-4CEF14650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962155"/>
              </p:ext>
            </p:extLst>
          </p:nvPr>
        </p:nvGraphicFramePr>
        <p:xfrm>
          <a:off x="695325" y="1292124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쪼기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탐식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3(2)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마비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4EDAF3D-7D9E-0F6B-8A18-AD24B354F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808579"/>
              </p:ext>
            </p:extLst>
          </p:nvPr>
        </p:nvGraphicFramePr>
        <p:xfrm>
          <a:off x="6171998" y="1292124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물기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탐식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체력이 적은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자신보다 속도가 높은 대상에게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체력이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이하일 경우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92ECA01-D5A8-451E-1B0D-6C64EAD0F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174911"/>
              </p:ext>
            </p:extLst>
          </p:nvPr>
        </p:nvGraphicFramePr>
        <p:xfrm>
          <a:off x="695322" y="4607638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흔들리는 불빛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램프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8(</a:t>
                      </a:r>
                      <a:r>
                        <a:rPr lang="en-US" altLang="ko-KR" sz="1200" b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현혹을 보유한 대상 만큼 가중치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현혹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A2268F2-32A6-A0E8-9B0B-5415F502E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687564"/>
              </p:ext>
            </p:extLst>
          </p:nvPr>
        </p:nvGraphicFramePr>
        <p:xfrm>
          <a:off x="695323" y="2949881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감시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탐식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2(3)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현혹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대상이 현혹을 보유했을 경우 현혹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78CB3D9-7A2C-29D6-587A-C4354E2A7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787637"/>
              </p:ext>
            </p:extLst>
          </p:nvPr>
        </p:nvGraphicFramePr>
        <p:xfrm>
          <a:off x="6171998" y="3151747"/>
          <a:ext cx="532467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탐식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12(</a:t>
                      </a:r>
                      <a:r>
                        <a:rPr lang="en-US" altLang="ko-KR" sz="1200" b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이끌림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보유한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대상이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이끌림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 하지 않았을 경우 스킬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이끌림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보유했을 경우 처치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처치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체력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회복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처치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다음 턴 적 모두에게 마비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72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E403-08E5-E74E-BE50-7A5545B9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F1B2FE2-BB13-AD95-9F79-6B8F353A8F32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큰 새 전투 기믹 및 공략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FD81A38-BCA6-E97A-3365-3B8B39E60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012361"/>
              </p:ext>
            </p:extLst>
          </p:nvPr>
        </p:nvGraphicFramePr>
        <p:xfrm>
          <a:off x="3644373" y="1752600"/>
          <a:ext cx="728535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5355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전투 기믹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매 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흔들리는 불빛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사용하여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현혹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부여하고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현혹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감시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사용하는 것으로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이끌림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상태를 유도한다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체력이 적은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물기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사용하는 것으로 큰 피해를 주거나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이끌림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상태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구원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사용하는 대상을 처치하고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002060"/>
                          </a:solidFill>
                        </a:rPr>
                        <a:t>거짓 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구원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얻는다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002060"/>
                          </a:solidFill>
                        </a:rPr>
                        <a:t>거짓 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구원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일정 이상 획득할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모순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획득한다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370D6D5-4609-BD3E-5642-07C1A6FC3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392626"/>
              </p:ext>
            </p:extLst>
          </p:nvPr>
        </p:nvGraphicFramePr>
        <p:xfrm>
          <a:off x="3644373" y="3949668"/>
          <a:ext cx="728535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5355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공략법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현혹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부여하는 스킬은 기본적으로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흔들리는 불빛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뿐이다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그렇기에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흔들리는 불빛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담당할 수감자를 선택하고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우선적으로 합을 시도하는 것으로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현혹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이끌림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상태의 수감자의 숫자를 최대한 억제한다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마지막으로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물기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체력이 적은 대상에게 큰 피해를 주고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구원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은 이끌림을 보유한 대상을 즉시 처치하기 때문에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해당 스킬들에게 합을 시도할 수감자를 고민하며 데미지를 축적해야 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9EAC75C-E749-ECB8-A758-67A1EA430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88" y="1483008"/>
            <a:ext cx="2141645" cy="453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27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26FF8-1CAF-12BE-A785-EC3121C7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EE77404-9F75-938F-0347-F52FCBD916DB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특수 기믹 </a:t>
            </a:r>
            <a:r>
              <a:rPr lang="en-US" altLang="ko-KR" sz="2400" dirty="0"/>
              <a:t>– </a:t>
            </a:r>
            <a:r>
              <a:rPr lang="ko-KR" altLang="en-US" sz="2400" dirty="0"/>
              <a:t>큰 새 특수 기믹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B92B60-BC23-1884-E9AA-9598F5E0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24" y="1571263"/>
            <a:ext cx="1421152" cy="1439371"/>
          </a:xfrm>
          <a:prstGeom prst="rect">
            <a:avLst/>
          </a:prstGeom>
        </p:spPr>
      </p:pic>
      <p:graphicFrame>
        <p:nvGraphicFramePr>
          <p:cNvPr id="8" name="표 2">
            <a:extLst>
              <a:ext uri="{FF2B5EF4-FFF2-40B4-BE49-F238E27FC236}">
                <a16:creationId xmlns:a16="http://schemas.microsoft.com/office/drawing/2014/main" id="{2A1793F3-2775-0342-B590-8BC047F46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268059"/>
              </p:ext>
            </p:extLst>
          </p:nvPr>
        </p:nvGraphicFramePr>
        <p:xfrm>
          <a:off x="1604009" y="3368893"/>
          <a:ext cx="89839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3980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큰 새 특수 기믹 규칙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41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우선 공격하지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6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다른 적이 있을 경우 피해를 받지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2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현혹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보유한 대상 만을 공격한다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23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보유한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에게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끝없는 감시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사용하면 흐트러진다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2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흐트러진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제외한 적이 없을 경우 플레이어는 전투를 승리한다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808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처치하지 않고 승리하면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보호하기 위한 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얻는다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04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931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8C48-5445-F9D9-21B2-A0574999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460254-B0CA-9482-BD84-39E73329C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564" y="1471841"/>
            <a:ext cx="933785" cy="2255519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B7FEF15A-42B0-0F7C-C864-ADE7670A0885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심판 새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FB480B6-FB46-CC7B-32FD-0785BC2C5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63367"/>
              </p:ext>
            </p:extLst>
          </p:nvPr>
        </p:nvGraphicFramePr>
        <p:xfrm>
          <a:off x="3290393" y="1350379"/>
          <a:ext cx="2805606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805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317801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환상체 명칭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식별 번호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O-02-62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985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WAW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2127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스테이터스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800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5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31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방어력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9359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F586F71-85CB-6DF7-4663-E45525204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49032"/>
              </p:ext>
            </p:extLst>
          </p:nvPr>
        </p:nvGraphicFramePr>
        <p:xfrm>
          <a:off x="6250423" y="1411339"/>
          <a:ext cx="525003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482744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패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 무게 위력이 횟수보다 높을 경우 수감자 우선 공격하고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 무게 횟수가 위력보다 높을 경우 다른 환상체를 우선 공격한다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죄의 무게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죄악을 보유한 대상의 숫자에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불공정한 판결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보유한 대상 처치 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그릇된 심판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그릇된 심판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 일정량 이상 획득 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눈먼 정의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획득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C75159B-9AB5-EC12-EDFF-26EE3D9B9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305429"/>
              </p:ext>
            </p:extLst>
          </p:nvPr>
        </p:nvGraphicFramePr>
        <p:xfrm>
          <a:off x="5464584" y="3633130"/>
          <a:ext cx="60378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561530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워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죄악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횟수에 비례하여 감소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저울 무게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부위를 수감자에게 공격 받을 경우 저울 무게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부위를 환상체에게 공격 받을 경우 저울 무게 횟수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그릇된 심판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눈먼 정의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6553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이제 남은 것은 불공정한 천칭 뿐이다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 새는 여전히 심판을 멈추지 않는다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152716"/>
                  </a:ext>
                </a:extLst>
              </a:tr>
            </a:tbl>
          </a:graphicData>
        </a:graphic>
      </p:graphicFrame>
      <p:sp>
        <p:nvSpPr>
          <p:cNvPr id="29" name="타원 28">
            <a:extLst>
              <a:ext uri="{FF2B5EF4-FFF2-40B4-BE49-F238E27FC236}">
                <a16:creationId xmlns:a16="http://schemas.microsoft.com/office/drawing/2014/main" id="{1C0C4125-5124-BAA8-7B63-8AB5C0FC652D}"/>
              </a:ext>
            </a:extLst>
          </p:cNvPr>
          <p:cNvSpPr/>
          <p:nvPr/>
        </p:nvSpPr>
        <p:spPr>
          <a:xfrm>
            <a:off x="1603853" y="2411435"/>
            <a:ext cx="317414" cy="101158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EB9CDE2-B3F2-52E4-B612-EA7D98C63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919059"/>
              </p:ext>
            </p:extLst>
          </p:nvPr>
        </p:nvGraphicFramePr>
        <p:xfrm>
          <a:off x="1042850" y="3856050"/>
          <a:ext cx="3652440" cy="225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3229847">
                  <a:extLst>
                    <a:ext uri="{9D8B030D-6E8A-4147-A177-3AD203B41FA5}">
                      <a16:colId xmlns:a16="http://schemas.microsoft.com/office/drawing/2014/main" val="443750348"/>
                    </a:ext>
                  </a:extLst>
                </a:gridCol>
              </a:tblGrid>
              <a:tr h="2255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AB8E145-9314-732F-97BA-8EE05A088E4E}"/>
              </a:ext>
            </a:extLst>
          </p:cNvPr>
          <p:cNvSpPr txBox="1"/>
          <p:nvPr/>
        </p:nvSpPr>
        <p:spPr>
          <a:xfrm>
            <a:off x="2163598" y="5593150"/>
            <a:ext cx="112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긴 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A1FE5A-03E1-2F7C-F127-88A13E8EEF7A}"/>
              </a:ext>
            </a:extLst>
          </p:cNvPr>
          <p:cNvSpPr txBox="1"/>
          <p:nvPr/>
        </p:nvSpPr>
        <p:spPr>
          <a:xfrm>
            <a:off x="3352129" y="4295445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저울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D22AB9FB-50C9-9873-7447-3417343A9D4E}"/>
              </a:ext>
            </a:extLst>
          </p:cNvPr>
          <p:cNvSpPr/>
          <p:nvPr/>
        </p:nvSpPr>
        <p:spPr>
          <a:xfrm>
            <a:off x="1921266" y="2062539"/>
            <a:ext cx="437947" cy="32577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D34868B-1809-11D7-E915-1B8D9F493B6C}"/>
              </a:ext>
            </a:extLst>
          </p:cNvPr>
          <p:cNvCxnSpPr>
            <a:cxnSpLocks/>
            <a:stCxn id="34" idx="6"/>
            <a:endCxn id="33" idx="1"/>
          </p:cNvCxnSpPr>
          <p:nvPr/>
        </p:nvCxnSpPr>
        <p:spPr>
          <a:xfrm>
            <a:off x="2359213" y="2225427"/>
            <a:ext cx="992916" cy="2254684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5E748D12-249C-4603-B887-6CBD66CAB96F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 rot="16200000" flipH="1">
            <a:off x="655497" y="4269714"/>
            <a:ext cx="2502941" cy="513261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0266-5F17-6216-F8F5-4EDAB2D4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0C41D84-E9DF-7056-D4B5-9FD3948C9335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심판 새 </a:t>
            </a:r>
            <a:r>
              <a:rPr lang="en-US" altLang="ko-KR" sz="2400" dirty="0"/>
              <a:t>(</a:t>
            </a:r>
            <a:r>
              <a:rPr lang="ko-KR" altLang="en-US" sz="2400" dirty="0"/>
              <a:t>부위 별 스킬</a:t>
            </a:r>
            <a:r>
              <a:rPr lang="en-US" altLang="ko-KR" sz="2400" dirty="0"/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D7ACB9D-79E2-515A-AF3D-A210BB3F3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966941"/>
              </p:ext>
            </p:extLst>
          </p:nvPr>
        </p:nvGraphicFramePr>
        <p:xfrm>
          <a:off x="6171996" y="1269591"/>
          <a:ext cx="53246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판결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7(1)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 무게 위력이 횟수보다 높으면 죄악이 제일 높은 수감자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 무게 횟수가 위력보다 높으면 죄악이 제일 높은 환상체를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 무게 위력과 횟수가 같으면 사용을 실패한다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대상과 같은 진영의 캐릭터 모두에게 죄악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122292E-C74A-8A6F-9E2A-B89B4D507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068130"/>
              </p:ext>
            </p:extLst>
          </p:nvPr>
        </p:nvGraphicFramePr>
        <p:xfrm>
          <a:off x="695325" y="1268413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할퀴기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3(2)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8A59474-AF10-CE94-8332-FDA02C3E9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761146"/>
              </p:ext>
            </p:extLst>
          </p:nvPr>
        </p:nvGraphicFramePr>
        <p:xfrm>
          <a:off x="695325" y="3084604"/>
          <a:ext cx="532467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불공정함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/2(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소수점 올림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당 코인 개수 증가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횟수에 비례하여 스킬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 및 다음 턴 대상에게 위력 감소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 및 죄악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470A441-89E7-AD35-5B58-C719DED9F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916349"/>
              </p:ext>
            </p:extLst>
          </p:nvPr>
        </p:nvGraphicFramePr>
        <p:xfrm>
          <a:off x="6171996" y="3271895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심판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저울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이상인 대상 합 불가능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이상일 경우 처치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75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AF05-A401-CE4A-68C3-323CDDCCF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766A8E3-AAAC-44CE-0534-7406557AA1AD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심판 새 전투 기믹 및 공략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2E13498-153D-0E55-992B-2B79E520C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19948"/>
              </p:ext>
            </p:extLst>
          </p:nvPr>
        </p:nvGraphicFramePr>
        <p:xfrm>
          <a:off x="3531357" y="1649730"/>
          <a:ext cx="758221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2217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전투 기믹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기본적으로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과 같이 등장하며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저울 부위를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우선적으로 공격한다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저울은 받은 공격의 대상 진영에 따라서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002060"/>
                          </a:solidFill>
                        </a:rPr>
                        <a:t>저울 무게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 변한다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저울 무게에 따라서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불공정함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판결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사용하여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죄악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부여한다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죄악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보유한 대상을 처치할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그릇된 심판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획득하여 위력이 증가 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죄악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이상인 대상은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심판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합을 할 수 없고 적중 시 처치되며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그릇된 심판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획득한다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그릇된 심판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일정 이상 획득할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눈 먼 정의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획득한다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3512FC1-BA28-864D-4473-D88CC273E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110454"/>
              </p:ext>
            </p:extLst>
          </p:nvPr>
        </p:nvGraphicFramePr>
        <p:xfrm>
          <a:off x="3531358" y="4068474"/>
          <a:ext cx="7582216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2216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공략법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37793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불공정함을 제외하면 죄악을 부여하는 스킬은 판결이 유일하며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판결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저울 무게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위력과 횟수가 같은 경우 실패하며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부여할 수 없다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심판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이상인 대상이 합을 할 수 없고 적중 시 처치되는 스키이기에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저울 무게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위력과 횟수가 최대한 같은 수치로 유지하는 것으로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부여할 수 없게 유지하며 데미지를 축적해야 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898923B5-EC0D-71E6-4326-8A82A816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71" y="1483008"/>
            <a:ext cx="2141645" cy="469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53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8FB7-3D77-1EA3-4B37-CD9C9F92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4FCB155-97E8-6740-A35F-9CA7929AE9B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특수 기믹 </a:t>
            </a:r>
            <a:r>
              <a:rPr lang="en-US" altLang="ko-KR" sz="2000" dirty="0"/>
              <a:t>– </a:t>
            </a:r>
            <a:r>
              <a:rPr lang="ko-KR" altLang="en-US" sz="2000" dirty="0"/>
              <a:t>심판 새 특수 기믹</a:t>
            </a:r>
            <a:endParaRPr lang="en-US" altLang="ko-KR" sz="2400" dirty="0"/>
          </a:p>
        </p:txBody>
      </p:sp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7D15934B-9720-9DF4-7B7C-CD47826BB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38793"/>
              </p:ext>
            </p:extLst>
          </p:nvPr>
        </p:nvGraphicFramePr>
        <p:xfrm>
          <a:off x="1932622" y="3368893"/>
          <a:ext cx="8326755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6755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심판 새 특수 기믹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41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우선 공격하지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6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다른 적이 있을 경우 피해를 받지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2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저울 무게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위력이 횟수보다 높을 경우 수감자를 공격한다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23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저울 무게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횟수가 위력보다 높을 경우 적을 공격한다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175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눈먼 정의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보유한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에게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불공정한 심판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사용하면 흐트러진다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2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기울어진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흐트러진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제외한 적이 없을 경우 플레이어는 전투를 승리한다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808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심판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처치하지 않고 승리하면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정의를 위한 저울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얻는다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04170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91852735-417F-CA3C-2992-4CFA36EA3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23" y="1571261"/>
            <a:ext cx="1421152" cy="143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10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F788-BE26-EC88-D6B4-CEB4D3C7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94C13F-EBD8-9E77-7E8A-9422CACE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20000" y="1874964"/>
            <a:ext cx="2202473" cy="1798184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45CA7FB7-01A3-AD49-1EC7-FC751669314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징벌 새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32147DB-0E6D-44F9-E9D7-8C46337CC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311142"/>
              </p:ext>
            </p:extLst>
          </p:nvPr>
        </p:nvGraphicFramePr>
        <p:xfrm>
          <a:off x="3290393" y="1350379"/>
          <a:ext cx="2805606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805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317801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환상체 명칭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식별 번호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O-02-56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985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TETH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2127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스테이터스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5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31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방어력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9359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C5B92DF1-C770-8FF0-0897-BA4076335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479423"/>
              </p:ext>
            </p:extLst>
          </p:nvPr>
        </p:nvGraphicFramePr>
        <p:xfrm>
          <a:off x="6250423" y="1411339"/>
          <a:ext cx="5250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482744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패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정의감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이전 턴 가장 높은 피해를 가한 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처벌 대상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나쁜 건 안돼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작은 날개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081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부여된 대상의 수에 비례하여 속도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8116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가혹한 처벌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처벌 대상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처치 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헛된 징벌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헛된 징벌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 일정량 이상 획득 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과중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획득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BC26D47-98BE-AC5F-F4EF-AF874C83C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138137"/>
              </p:ext>
            </p:extLst>
          </p:nvPr>
        </p:nvGraphicFramePr>
        <p:xfrm>
          <a:off x="5464584" y="4069409"/>
          <a:ext cx="60378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561530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키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워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처벌 대상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 시작 시 처벌 대상이 아닐 경우 보유한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같이 소멸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나쁜 사람한테는 벌 줄 꺼야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과중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6553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사람들은 아주 오래전부터 악행을 저질러왔다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잘못된 일인 줄 스스로 인식하면서도 굳이 행하는 이유는 무엇일까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152716"/>
                  </a:ext>
                </a:extLst>
              </a:tr>
            </a:tbl>
          </a:graphicData>
        </a:graphic>
      </p:graphicFrame>
      <p:sp>
        <p:nvSpPr>
          <p:cNvPr id="29" name="타원 28">
            <a:extLst>
              <a:ext uri="{FF2B5EF4-FFF2-40B4-BE49-F238E27FC236}">
                <a16:creationId xmlns:a16="http://schemas.microsoft.com/office/drawing/2014/main" id="{E73C03FF-A723-6B9D-14CB-8660BDAE3EEF}"/>
              </a:ext>
            </a:extLst>
          </p:cNvPr>
          <p:cNvSpPr/>
          <p:nvPr/>
        </p:nvSpPr>
        <p:spPr>
          <a:xfrm>
            <a:off x="799485" y="2376136"/>
            <a:ext cx="1158589" cy="1256994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901C66F1-6A77-148D-F108-87784954BA79}"/>
              </a:ext>
            </a:extLst>
          </p:cNvPr>
          <p:cNvGraphicFramePr>
            <a:graphicFrameLocks noGrp="1"/>
          </p:cNvGraphicFramePr>
          <p:nvPr/>
        </p:nvGraphicFramePr>
        <p:xfrm>
          <a:off x="1042850" y="3856050"/>
          <a:ext cx="3652440" cy="2255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3229847">
                  <a:extLst>
                    <a:ext uri="{9D8B030D-6E8A-4147-A177-3AD203B41FA5}">
                      <a16:colId xmlns:a16="http://schemas.microsoft.com/office/drawing/2014/main" val="443750348"/>
                    </a:ext>
                  </a:extLst>
                </a:gridCol>
              </a:tblGrid>
              <a:tr h="22555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C9E75E3F-BC77-62FE-EE07-6C2987A0582F}"/>
              </a:ext>
            </a:extLst>
          </p:cNvPr>
          <p:cNvSpPr txBox="1"/>
          <p:nvPr/>
        </p:nvSpPr>
        <p:spPr>
          <a:xfrm>
            <a:off x="2163598" y="5593150"/>
            <a:ext cx="112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솟대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3144DD-DB52-FE78-F0E4-B37DEE9B1E32}"/>
              </a:ext>
            </a:extLst>
          </p:cNvPr>
          <p:cNvSpPr txBox="1"/>
          <p:nvPr/>
        </p:nvSpPr>
        <p:spPr>
          <a:xfrm>
            <a:off x="2829782" y="5132367"/>
            <a:ext cx="119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작은</a:t>
            </a:r>
            <a:r>
              <a:rPr lang="en-US" altLang="ko-KR" dirty="0"/>
              <a:t> </a:t>
            </a:r>
            <a:r>
              <a:rPr lang="ko-KR" altLang="en-US" dirty="0"/>
              <a:t>부리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993A6AC-5042-93FF-E4AA-0983EE29678B}"/>
              </a:ext>
            </a:extLst>
          </p:cNvPr>
          <p:cNvSpPr/>
          <p:nvPr/>
        </p:nvSpPr>
        <p:spPr>
          <a:xfrm>
            <a:off x="2524277" y="2161677"/>
            <a:ext cx="384180" cy="27074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E0F8F977-75A7-5A8E-85A8-5C974F240500}"/>
              </a:ext>
            </a:extLst>
          </p:cNvPr>
          <p:cNvCxnSpPr>
            <a:cxnSpLocks/>
            <a:stCxn id="34" idx="2"/>
            <a:endCxn id="33" idx="1"/>
          </p:cNvCxnSpPr>
          <p:nvPr/>
        </p:nvCxnSpPr>
        <p:spPr>
          <a:xfrm rot="10800000" flipH="1" flipV="1">
            <a:off x="2524276" y="2297047"/>
            <a:ext cx="305505" cy="3019985"/>
          </a:xfrm>
          <a:prstGeom prst="bentConnector3">
            <a:avLst>
              <a:gd name="adj1" fmla="val -74827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C60366F-CD99-AA4A-0682-EA867DCC147F}"/>
              </a:ext>
            </a:extLst>
          </p:cNvPr>
          <p:cNvCxnSpPr>
            <a:cxnSpLocks/>
            <a:stCxn id="29" idx="5"/>
            <a:endCxn id="32" idx="1"/>
          </p:cNvCxnSpPr>
          <p:nvPr/>
        </p:nvCxnSpPr>
        <p:spPr>
          <a:xfrm rot="16200000" flipH="1">
            <a:off x="811616" y="4425833"/>
            <a:ext cx="2328769" cy="375195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A38E51F5-6489-2B8A-CC28-55FAF3F1D75A}"/>
              </a:ext>
            </a:extLst>
          </p:cNvPr>
          <p:cNvSpPr/>
          <p:nvPr/>
        </p:nvSpPr>
        <p:spPr>
          <a:xfrm>
            <a:off x="2555082" y="1940718"/>
            <a:ext cx="323850" cy="20498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463302-DC4C-AF25-394E-98142C5E84A9}"/>
              </a:ext>
            </a:extLst>
          </p:cNvPr>
          <p:cNvSpPr txBox="1"/>
          <p:nvPr/>
        </p:nvSpPr>
        <p:spPr>
          <a:xfrm>
            <a:off x="3395982" y="4641401"/>
            <a:ext cx="1199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부리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220F38B-5531-74FA-6451-BA960974C7BE}"/>
              </a:ext>
            </a:extLst>
          </p:cNvPr>
          <p:cNvCxnSpPr>
            <a:cxnSpLocks/>
            <a:stCxn id="24" idx="6"/>
            <a:endCxn id="28" idx="1"/>
          </p:cNvCxnSpPr>
          <p:nvPr/>
        </p:nvCxnSpPr>
        <p:spPr>
          <a:xfrm>
            <a:off x="2878932" y="2043212"/>
            <a:ext cx="517050" cy="2782855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221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03BCE-E007-6D17-D518-A54FDE0A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88DA9D3-F1F2-FD01-0BA9-8945D412E76E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징벌 새 </a:t>
            </a:r>
            <a:r>
              <a:rPr lang="en-US" altLang="ko-KR" sz="2400" dirty="0"/>
              <a:t>(</a:t>
            </a:r>
            <a:r>
              <a:rPr lang="ko-KR" altLang="en-US" sz="2400" dirty="0"/>
              <a:t>부위 별 스킬</a:t>
            </a:r>
            <a:r>
              <a:rPr lang="en-US" altLang="ko-KR" sz="2400" dirty="0"/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630C6CC-F574-3E69-2C3B-2B3ABF1FB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158610"/>
              </p:ext>
            </p:extLst>
          </p:nvPr>
        </p:nvGraphicFramePr>
        <p:xfrm>
          <a:off x="6171996" y="1269591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파닥파닥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처벌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다음 턴 속도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F74A9F-7951-F679-4567-E33EC34FE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034912"/>
              </p:ext>
            </p:extLst>
          </p:nvPr>
        </p:nvGraphicFramePr>
        <p:xfrm>
          <a:off x="695325" y="1268413"/>
          <a:ext cx="53246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쪼아대기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2(3)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자신과 대상의 속도 차이에 비례하여 스킬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CAE54A0-AECF-CEAF-7AAD-D1A9B7AB3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995635"/>
              </p:ext>
            </p:extLst>
          </p:nvPr>
        </p:nvGraphicFramePr>
        <p:xfrm>
          <a:off x="695325" y="2735282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보유한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만큼 코인 개수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3AC1FEA-3DDE-75BD-7AD7-81FE51267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358879"/>
              </p:ext>
            </p:extLst>
          </p:nvPr>
        </p:nvGraphicFramePr>
        <p:xfrm>
          <a:off x="6171996" y="3084604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징벌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작은 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처벌 대상 우선 공격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모든 캐릭터의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 합에 비례하여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나빠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!’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횟수에 비례하여 추가 피해를 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074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A877-8DDB-3A64-1EC2-932687D1F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1339806-C13B-1D24-12D2-DDFA8615B71C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징벌 새 전투 기믹 및 공략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F3D478A-3467-6414-5D0D-B148B6FFE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871762"/>
              </p:ext>
            </p:extLst>
          </p:nvPr>
        </p:nvGraphicFramePr>
        <p:xfrm>
          <a:off x="3921775" y="1483008"/>
          <a:ext cx="6872605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2605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24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전투 기믹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161632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이전 턴 가장 높은 피해를 준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처벌 대상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부여하고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처벌 대상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대상을 우선적으로 공격한다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공격 대상의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횟수에 비례하여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위력 증가한다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징벌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적중할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횟수에 비례하여 추가 피해를 준다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처벌 대상 처치 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헛된 징벌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획득한다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헛된 징벌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일정 이상 획득할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과중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획득한다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5D5F381-7E23-1BF3-AE59-3CB792162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77467"/>
              </p:ext>
            </p:extLst>
          </p:nvPr>
        </p:nvGraphicFramePr>
        <p:xfrm>
          <a:off x="3921776" y="3901752"/>
          <a:ext cx="687260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2605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공략법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보유한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징벌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적중 될 경우 매우 큰 피해를 주고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속도는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 부여된 대상의 수에 비례하여 증가한다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처벌 대상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캐릭터가 처벌 대상이 아니게 될 경우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처벌 대상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소멸한다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그렇기에 매 턴 가장 높은 피해를 준 수감자가 변경될 수 있게 하여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나빠</a:t>
                      </a:r>
                      <a:r>
                        <a:rPr lang="en-US" altLang="ko-KR" sz="1400" dirty="0">
                          <a:solidFill>
                            <a:srgbClr val="2F5597"/>
                          </a:solidFill>
                        </a:rPr>
                        <a:t>!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수치를 조절하며 데미지를 축적해야 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80A6E33-EBDB-6DF3-37AB-699976EE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322" y="1750136"/>
            <a:ext cx="2141644" cy="378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64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83D43-5555-14F2-7EF9-448BA6C4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8E1D3E5-DAAB-DC3F-AC91-923ABD965A1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특수 기믹 </a:t>
            </a:r>
            <a:r>
              <a:rPr lang="en-US" altLang="ko-KR" sz="2000" dirty="0"/>
              <a:t>– </a:t>
            </a:r>
            <a:r>
              <a:rPr lang="ko-KR" altLang="en-US" sz="2000" dirty="0"/>
              <a:t>징벌 새 특수 기믹</a:t>
            </a:r>
            <a:endParaRPr lang="en-US" altLang="ko-KR" sz="2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8EB91D0-D1EA-49D4-AA7E-B5B895D7E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23" y="1571262"/>
            <a:ext cx="1421152" cy="1439371"/>
          </a:xfrm>
          <a:prstGeom prst="rect">
            <a:avLst/>
          </a:prstGeom>
        </p:spPr>
      </p:pic>
      <p:graphicFrame>
        <p:nvGraphicFramePr>
          <p:cNvPr id="15" name="표 2">
            <a:extLst>
              <a:ext uri="{FF2B5EF4-FFF2-40B4-BE49-F238E27FC236}">
                <a16:creationId xmlns:a16="http://schemas.microsoft.com/office/drawing/2014/main" id="{F7ECE420-C75A-9A74-218C-68CEB9110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118262"/>
              </p:ext>
            </p:extLst>
          </p:nvPr>
        </p:nvGraphicFramePr>
        <p:xfrm>
          <a:off x="1515109" y="3368893"/>
          <a:ext cx="91617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1780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큰 새 특수 기믹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41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우선 공격하지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6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다른 적이 있을 경우 피해를 받지 않는다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2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큰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는 현혹된 대상 만을 공격한다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230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과중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보유한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에게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가혹한 형벌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사용하면 흐트러진다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2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 소환된 흐트러진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제외한 적이 없을 경우 플레이어는 전투를 승리한다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808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6.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처치하지 않고 승리하면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E.G.O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지키기 위한 부리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얻는다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04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00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1B3E3-D186-6A78-3C74-6A02D26B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82CFE3-C7B1-0A65-C2BA-7CE40007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67039" y="1415568"/>
            <a:ext cx="6227077" cy="3309247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5E898DE-3F5E-EDD1-5B79-9C37670A0DD9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</a:t>
            </a:r>
            <a:r>
              <a:rPr lang="en-US" altLang="ko-KR" sz="2400" dirty="0"/>
              <a:t>(</a:t>
            </a:r>
            <a:r>
              <a:rPr lang="ko-KR" altLang="en-US" sz="2400" dirty="0"/>
              <a:t>부위 및 스테이터스</a:t>
            </a:r>
            <a:r>
              <a:rPr lang="en-US" altLang="ko-KR" sz="2400" dirty="0"/>
              <a:t>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7DC7A5E-DB67-116D-2573-9595F1DBF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814467"/>
              </p:ext>
            </p:extLst>
          </p:nvPr>
        </p:nvGraphicFramePr>
        <p:xfrm>
          <a:off x="8587862" y="1526431"/>
          <a:ext cx="2805607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805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317802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환상체 명칭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징벌 새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식별 번호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O-02-63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985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ALEPH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2127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스테이터스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330000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5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31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방어력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93598"/>
                  </a:ext>
                </a:extLst>
              </a:tr>
            </a:tbl>
          </a:graphicData>
        </a:graphic>
      </p:graphicFrame>
      <p:sp>
        <p:nvSpPr>
          <p:cNvPr id="29" name="타원 28">
            <a:extLst>
              <a:ext uri="{FF2B5EF4-FFF2-40B4-BE49-F238E27FC236}">
                <a16:creationId xmlns:a16="http://schemas.microsoft.com/office/drawing/2014/main" id="{DBA897E2-60D4-879A-DC00-340391FA9A30}"/>
              </a:ext>
            </a:extLst>
          </p:cNvPr>
          <p:cNvSpPr/>
          <p:nvPr/>
        </p:nvSpPr>
        <p:spPr>
          <a:xfrm>
            <a:off x="1704685" y="1511692"/>
            <a:ext cx="2148124" cy="212143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66B78FA2-00CC-A362-9C7C-9AD4F4B6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68367"/>
              </p:ext>
            </p:extLst>
          </p:nvPr>
        </p:nvGraphicFramePr>
        <p:xfrm>
          <a:off x="950677" y="4801016"/>
          <a:ext cx="6343439" cy="1302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57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5941082">
                  <a:extLst>
                    <a:ext uri="{9D8B030D-6E8A-4147-A177-3AD203B41FA5}">
                      <a16:colId xmlns:a16="http://schemas.microsoft.com/office/drawing/2014/main" val="443750348"/>
                    </a:ext>
                  </a:extLst>
                </a:gridCol>
              </a:tblGrid>
              <a:tr h="1302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F27B3E4-32EA-A3A2-A1AF-DBA356F65AD3}"/>
              </a:ext>
            </a:extLst>
          </p:cNvPr>
          <p:cNvSpPr txBox="1"/>
          <p:nvPr/>
        </p:nvSpPr>
        <p:spPr>
          <a:xfrm>
            <a:off x="2523194" y="5629630"/>
            <a:ext cx="1126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큰 눈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1778BB7-3A77-B396-5DFB-41B0CA717AA5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 rot="16200000" flipH="1">
            <a:off x="1025310" y="4316412"/>
            <a:ext cx="2491844" cy="503924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171AE1DB-BCDB-2509-606B-E01FE5DB3AC7}"/>
              </a:ext>
            </a:extLst>
          </p:cNvPr>
          <p:cNvSpPr/>
          <p:nvPr/>
        </p:nvSpPr>
        <p:spPr>
          <a:xfrm>
            <a:off x="5146555" y="3070191"/>
            <a:ext cx="1703326" cy="152890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5FF30DD-38B4-F026-2E45-B4B67331A41F}"/>
              </a:ext>
            </a:extLst>
          </p:cNvPr>
          <p:cNvSpPr/>
          <p:nvPr/>
        </p:nvSpPr>
        <p:spPr>
          <a:xfrm>
            <a:off x="3518988" y="3514459"/>
            <a:ext cx="1354802" cy="118457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2C8BE-4233-F73B-01EB-1303366DF026}"/>
              </a:ext>
            </a:extLst>
          </p:cNvPr>
          <p:cNvSpPr txBox="1"/>
          <p:nvPr/>
        </p:nvSpPr>
        <p:spPr>
          <a:xfrm>
            <a:off x="4196389" y="5607866"/>
            <a:ext cx="15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작은 부리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6E2E9EF-D1F3-2AF4-CEC7-C827DBCC37E2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rot="16200000" flipH="1">
            <a:off x="3323403" y="4919545"/>
            <a:ext cx="1266977" cy="478995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998BC2-4108-A982-74ED-B308E138A974}"/>
              </a:ext>
            </a:extLst>
          </p:cNvPr>
          <p:cNvSpPr txBox="1"/>
          <p:nvPr/>
        </p:nvSpPr>
        <p:spPr>
          <a:xfrm>
            <a:off x="5897498" y="5082703"/>
            <a:ext cx="158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긴 다리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01BF0559-8B83-F2E1-D3E2-5B671727ACBE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rot="16200000" flipH="1">
            <a:off x="5200660" y="4570531"/>
            <a:ext cx="892178" cy="501497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556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577C7-F692-2563-8228-5BEB32C4F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9136FF2-BE5C-2DC5-0EF5-472139928704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</a:t>
            </a:r>
            <a:endParaRPr lang="en-US" altLang="ko-KR" sz="24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4063430-14EE-BFF7-7379-9866D0898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6264"/>
              </p:ext>
            </p:extLst>
          </p:nvPr>
        </p:nvGraphicFramePr>
        <p:xfrm>
          <a:off x="696566" y="1268413"/>
          <a:ext cx="525003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482744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1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패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시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검은 숲의 파수꾼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외면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보유한 경우 흐트러지지 않고 받는 피해가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95%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감소한다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화상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출혈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파열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으로 피해를 받지 않는다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괴물 발견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2526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부여된 대상을 우선 공격 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부여된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도 공격한다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1950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큰 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공격으로 대상에게 피해를 준 모든 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부여하고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공격으로 대상을 처치한 모든 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긴 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죄가 부정된 대상에 숫자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/2(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소수점 반올림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사용하는 스킬 가중치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작은 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49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시 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작은 부리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사용하는 스킬 피해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9886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책임 전가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외면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보유한 경우 자신이 획득할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랜덤 적에게 전가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적에게 전가한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만큼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책임 전가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98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검은 숲의 괴물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106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자신에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횟수에 비례하여 공격 시 피해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자신에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횟수에 비례하여 받는 피해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052305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E7C6AA01-AEB2-04E6-54D8-789B1B4C7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031760"/>
              </p:ext>
            </p:extLst>
          </p:nvPr>
        </p:nvGraphicFramePr>
        <p:xfrm>
          <a:off x="6246637" y="1268413"/>
          <a:ext cx="525003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4827445">
                  <a:extLst>
                    <a:ext uri="{9D8B030D-6E8A-4147-A177-3AD203B41FA5}">
                      <a16:colId xmlns:a16="http://schemas.microsoft.com/office/drawing/2014/main" val="3133250304"/>
                    </a:ext>
                  </a:extLst>
                </a:gridCol>
              </a:tblGrid>
              <a:tr h="0"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키워드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괴물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5306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저기 괴수가 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검고 어두운 숲에는 크고 무서운 괴물이 산다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8252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외면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9939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하나의 새가 된 세 마리의 새들은 자신의 주위를 둘러보았지만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아무도 보이지 않았어요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남은 건 그저 </a:t>
                      </a:r>
                      <a:r>
                        <a:rPr lang="ko-KR" alt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 마리의 새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 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검은 숲</a:t>
                      </a:r>
                      <a:r>
                        <a:rPr lang="en-US" altLang="ko-KR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이었습니다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6422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영원한 평화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기본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매 턴 횟수를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소모하여 검은 숲의 주민 소환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X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으로 시작하여 매 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씩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까지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될 경우 소멸하고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고요한 숲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획득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고요한 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973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외면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소멸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거짓된 평화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획득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5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거짓된 평화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매 턴 시작 시 자신의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책임 전가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합계 만큼 자신에게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자신의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50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이상일 경우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검은 숲의 파수꾼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검은 숲의 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자기혐오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매 턴 시작 시 자신의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횟수에 비례하여 피해를 받음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213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BD97-6FA3-4434-2618-130BBB98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973B320-949C-813B-5BBD-9C2E55D77ED9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</a:t>
            </a:r>
            <a:r>
              <a:rPr lang="en-US" altLang="ko-KR" sz="2400" dirty="0"/>
              <a:t>(</a:t>
            </a:r>
            <a:r>
              <a:rPr lang="ko-KR" altLang="en-US" sz="2400" dirty="0"/>
              <a:t>부위 별 스킬</a:t>
            </a:r>
            <a:r>
              <a:rPr lang="en-US" altLang="ko-KR" sz="2400" dirty="0"/>
              <a:t>)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4992C53-7AE5-2F79-B20E-EDF548DDB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05464"/>
              </p:ext>
            </p:extLst>
          </p:nvPr>
        </p:nvGraphicFramePr>
        <p:xfrm>
          <a:off x="6171998" y="1268413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내려찍기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다리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질투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3(2)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보유한 대상의 숫자 만큼 스킬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arenBoth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진동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9950D6C-0051-590F-812A-A1D1193AC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266093"/>
              </p:ext>
            </p:extLst>
          </p:nvPr>
        </p:nvGraphicFramePr>
        <p:xfrm>
          <a:off x="6171998" y="3086939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집어 던지기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다리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보유한 대상의 숫자 만큼 스킬 코인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진동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진동 폭발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 발동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A56BF72-05CA-0904-C909-9CB211F7B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462374"/>
              </p:ext>
            </p:extLst>
          </p:nvPr>
        </p:nvGraphicFramePr>
        <p:xfrm>
          <a:off x="695325" y="1268413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수색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탐식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진동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4CF7198-FB97-8C09-C9DA-10009B6E1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60812"/>
              </p:ext>
            </p:extLst>
          </p:nvPr>
        </p:nvGraphicFramePr>
        <p:xfrm>
          <a:off x="695325" y="3086939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단정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나태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비례하여 스킬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724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E38E-45F0-31D4-55E2-E41DAEDC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7C366B7-AAC7-561B-28DE-8FD6E4B39E6E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</a:t>
            </a:r>
            <a:r>
              <a:rPr lang="en-US" altLang="ko-KR" sz="2400" dirty="0"/>
              <a:t>(</a:t>
            </a:r>
            <a:r>
              <a:rPr lang="ko-KR" altLang="en-US" sz="2400" dirty="0"/>
              <a:t>부위 별 스킬</a:t>
            </a:r>
            <a:r>
              <a:rPr lang="en-US" altLang="ko-KR" sz="2400" dirty="0"/>
              <a:t>)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A2D6DF-A8B0-3A21-CF3C-B8312C047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322236"/>
              </p:ext>
            </p:extLst>
          </p:nvPr>
        </p:nvGraphicFramePr>
        <p:xfrm>
          <a:off x="6171996" y="1268413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큰 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탐식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4(2+</a:t>
                      </a:r>
                      <a:r>
                        <a:rPr lang="en-US" altLang="ko-KR" sz="1200" b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보유한 대상에게 코인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A98105B-D8AF-AC65-0DDA-E0AA4A47C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908841"/>
              </p:ext>
            </p:extLst>
          </p:nvPr>
        </p:nvGraphicFramePr>
        <p:xfrm>
          <a:off x="6171996" y="2888339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눈 먼 정의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긴 다리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오만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220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참격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보유한 대상이 있을 경우 사용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괴물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보유했을 경우 다음 턴 가혹한 처벌 사용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C7D635A-2BA4-016D-93A8-9EC90CF59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205257"/>
              </p:ext>
            </p:extLst>
          </p:nvPr>
        </p:nvGraphicFramePr>
        <p:xfrm>
          <a:off x="6171996" y="4505985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가혹한 처벌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작은 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14(</a:t>
                      </a:r>
                      <a:r>
                        <a:rPr lang="en-US" altLang="ko-KR" sz="1200" b="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눈 먼 정의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의 효과로만 사용 가능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 변경 불가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시도 불가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228E598-548E-FF2A-C92E-0D7F6CF02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035253"/>
              </p:ext>
            </p:extLst>
          </p:nvPr>
        </p:nvGraphicFramePr>
        <p:xfrm>
          <a:off x="695324" y="1268413"/>
          <a:ext cx="532467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깨물기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작은 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코인 개수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적중 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]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대상에게 출혈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부여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18E8B1-A838-93BF-A60B-D59158B71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929514"/>
              </p:ext>
            </p:extLst>
          </p:nvPr>
        </p:nvGraphicFramePr>
        <p:xfrm>
          <a:off x="695324" y="2888339"/>
          <a:ext cx="532467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징벌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작은 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스킬 코인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41661B8-BEB5-1287-C41C-CCFCE4367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496562"/>
              </p:ext>
            </p:extLst>
          </p:nvPr>
        </p:nvGraphicFramePr>
        <p:xfrm>
          <a:off x="695324" y="4325385"/>
          <a:ext cx="532467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430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63472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황혼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작은 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분노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처치 되거나 도망간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이상일 경우 사용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가 부여된 대상의 숫자 만큼 가중치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6)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대상의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만큼 스킬 위력 증가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693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8499-2951-449C-B50E-48CC7743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8F8CE3-D2C5-4B22-09B2-03EFB1165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5" y="1611732"/>
            <a:ext cx="2181580" cy="1146254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D8FFDEA4-D511-C461-ACD8-C7C8C4D49E1F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검은 숲의 주민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8CFDCCE-9E25-907B-DA12-C8980ECA1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34677"/>
              </p:ext>
            </p:extLst>
          </p:nvPr>
        </p:nvGraphicFramePr>
        <p:xfrm>
          <a:off x="2991802" y="1407569"/>
          <a:ext cx="3104198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805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616393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환상체 명칭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식별 번호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???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985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???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02127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스테이터스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5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속도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31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방어력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99359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2F5AAAB-7C99-86C4-C9EA-99EA4B902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344331"/>
              </p:ext>
            </p:extLst>
          </p:nvPr>
        </p:nvGraphicFramePr>
        <p:xfrm>
          <a:off x="6625395" y="1360833"/>
          <a:ext cx="4582160" cy="225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3927678152"/>
                    </a:ext>
                  </a:extLst>
                </a:gridCol>
                <a:gridCol w="3888105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</a:tblGrid>
              <a:tr h="20238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패시브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공포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  <a:tr h="202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패닉 상태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로 등장 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13323"/>
                  </a:ext>
                </a:extLst>
              </a:tr>
              <a:tr h="202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생존 본능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309297"/>
                  </a:ext>
                </a:extLst>
              </a:tr>
              <a:tr h="2023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매 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도주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얻는다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758847"/>
                  </a:ext>
                </a:extLst>
              </a:tr>
              <a:tr h="202387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고유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키워드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도주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743255"/>
                  </a:ext>
                </a:extLst>
              </a:tr>
              <a:tr h="33731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이상 보유 시 검은 숲에서 도망쳐 전장을 이탈 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97840"/>
                  </a:ext>
                </a:extLst>
              </a:tr>
              <a:tr h="20238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패닉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862446"/>
                  </a:ext>
                </a:extLst>
              </a:tr>
              <a:tr h="20238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턴간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패닉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만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883676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9BA0AEA-5068-96DE-455B-ABA7D2135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38512"/>
              </p:ext>
            </p:extLst>
          </p:nvPr>
        </p:nvGraphicFramePr>
        <p:xfrm>
          <a:off x="705492" y="2872365"/>
          <a:ext cx="2171515" cy="990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593">
                  <a:extLst>
                    <a:ext uri="{9D8B030D-6E8A-4147-A177-3AD203B41FA5}">
                      <a16:colId xmlns:a16="http://schemas.microsoft.com/office/drawing/2014/main" val="3217995158"/>
                    </a:ext>
                  </a:extLst>
                </a:gridCol>
                <a:gridCol w="1748922">
                  <a:extLst>
                    <a:ext uri="{9D8B030D-6E8A-4147-A177-3AD203B41FA5}">
                      <a16:colId xmlns:a16="http://schemas.microsoft.com/office/drawing/2014/main" val="443750348"/>
                    </a:ext>
                  </a:extLst>
                </a:gridCol>
              </a:tblGrid>
              <a:tr h="9907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부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389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6BA9294-A0FC-748C-E6EB-DED75CCE4208}"/>
              </a:ext>
            </a:extLst>
          </p:cNvPr>
          <p:cNvSpPr txBox="1"/>
          <p:nvPr/>
        </p:nvSpPr>
        <p:spPr>
          <a:xfrm>
            <a:off x="1791250" y="3183058"/>
            <a:ext cx="72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몸통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96525F9-9F8D-6EA0-E973-BF63459B7C0B}"/>
              </a:ext>
            </a:extLst>
          </p:cNvPr>
          <p:cNvCxnSpPr>
            <a:cxnSpLocks/>
            <a:stCxn id="24" idx="3"/>
            <a:endCxn id="32" idx="1"/>
          </p:cNvCxnSpPr>
          <p:nvPr/>
        </p:nvCxnSpPr>
        <p:spPr>
          <a:xfrm rot="16200000" flipH="1">
            <a:off x="1143770" y="2720243"/>
            <a:ext cx="767129" cy="527832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5B1937F9-C770-C990-5FCC-3F06C940C3DD}"/>
              </a:ext>
            </a:extLst>
          </p:cNvPr>
          <p:cNvSpPr/>
          <p:nvPr/>
        </p:nvSpPr>
        <p:spPr>
          <a:xfrm>
            <a:off x="1044783" y="1504472"/>
            <a:ext cx="1492936" cy="128418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1C44352-830F-FE5D-D36B-19D49D4B1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82301"/>
              </p:ext>
            </p:extLst>
          </p:nvPr>
        </p:nvGraphicFramePr>
        <p:xfrm>
          <a:off x="6336276" y="4409052"/>
          <a:ext cx="51603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649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15235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57280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15235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다급함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몸통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수감자가 상쇄를 시도할 경우 상쇄되지 않고 스킬 위력이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243DAD8-8986-4276-4497-A5621BF96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89059"/>
              </p:ext>
            </p:extLst>
          </p:nvPr>
        </p:nvGraphicFramePr>
        <p:xfrm>
          <a:off x="705492" y="4409052"/>
          <a:ext cx="51603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649">
                  <a:extLst>
                    <a:ext uri="{9D8B030D-6E8A-4147-A177-3AD203B41FA5}">
                      <a16:colId xmlns:a16="http://schemas.microsoft.com/office/drawing/2014/main" val="1165135182"/>
                    </a:ext>
                  </a:extLst>
                </a:gridCol>
                <a:gridCol w="1515235">
                  <a:extLst>
                    <a:ext uri="{9D8B030D-6E8A-4147-A177-3AD203B41FA5}">
                      <a16:colId xmlns:a16="http://schemas.microsoft.com/office/drawing/2014/main" val="456661086"/>
                    </a:ext>
                  </a:extLst>
                </a:gridCol>
                <a:gridCol w="1257280">
                  <a:extLst>
                    <a:ext uri="{9D8B030D-6E8A-4147-A177-3AD203B41FA5}">
                      <a16:colId xmlns:a16="http://schemas.microsoft.com/office/drawing/2014/main" val="3270898219"/>
                    </a:ext>
                  </a:extLst>
                </a:gridCol>
                <a:gridCol w="1515235">
                  <a:extLst>
                    <a:ext uri="{9D8B030D-6E8A-4147-A177-3AD203B41FA5}">
                      <a16:colId xmlns:a16="http://schemas.microsoft.com/office/drawing/2014/main" val="452622235"/>
                    </a:ext>
                  </a:extLst>
                </a:gridCol>
              </a:tblGrid>
              <a:tr h="130394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패닉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38414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사용 부위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몸통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죄악 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42079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가중치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601460"/>
                  </a:ext>
                </a:extLst>
              </a:tr>
              <a:tr h="130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스킬 위력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코인 위력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개수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6(1)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863721"/>
                  </a:ext>
                </a:extLst>
              </a:tr>
              <a:tr h="260788">
                <a:tc gridSpan="4"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패배 시 피해를 입지 않는다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9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567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5783-FB7C-207B-6418-56C87873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4BDCC2-7BEF-423E-B3B1-BCFD7318CC82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 전투 기믹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66C5488-DE6C-D6F5-AA58-9E1A91DEB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432249"/>
              </p:ext>
            </p:extLst>
          </p:nvPr>
        </p:nvGraphicFramePr>
        <p:xfrm>
          <a:off x="2080260" y="1268413"/>
          <a:ext cx="803148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1480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2753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전투 기믹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432279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파수꾼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으로 흐트러지지 않고 대부분의 피해를 감소 시킨다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책임 전가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효과로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 획득할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랜덤 대상에게 전가하여 부여한다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영원한 평화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횟수가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일 될 때까지 횟수를 소모하여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등장시키고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일 될 경우 소멸하여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고요한 숲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에게 부여한다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고요한 숲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패시브가 소멸되고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거짓된 평화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얻고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책임 전가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전가한 만큼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획득 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횟수가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50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이상일 경우 종말 새의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검은 숲의 파수꾼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패시브가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검은 숲의 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변경되고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자기혐오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인하여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비례하는 피해를 매 턴 받는다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검은 숲의 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자신이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비례하여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주는 피해와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받는 피해가 증가한다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큰 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통하여 피해를 주거나 대상을 처치한 모든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부여하고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 부여된 수가 많아질 수록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긴 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사용하는 스킬의 가중치가 증가하고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작은 부리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대상이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비례하여 스킬 피해가 증가한다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모순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사용하여 대상에게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부여한다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대상이 있을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눈 먼 정의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사용하고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대상이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보유 했을 경우 다음 턴에 강력한 스킬이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가혹한 처벌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사용한다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142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B2B4-4D0C-0B27-82F7-6E102CEE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6477E54-AED1-9133-8612-B1DF8237185C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 전투 기믹 요약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155555-83FB-7E1A-F6A2-243CDF093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63" y="1575266"/>
            <a:ext cx="10096072" cy="435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31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CEABB-8DA8-C37B-CB32-0ECB6F62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548A62F-24EA-BDAA-5E4F-6939ADADB137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환상체 </a:t>
            </a:r>
            <a:r>
              <a:rPr lang="en-US" altLang="ko-KR" sz="2400" dirty="0"/>
              <a:t>– </a:t>
            </a:r>
            <a:r>
              <a:rPr lang="ko-KR" altLang="en-US" sz="2400" dirty="0"/>
              <a:t>종말 새 공략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13A77FA-0474-23B2-6C6B-ECBFCCCC3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931771"/>
              </p:ext>
            </p:extLst>
          </p:nvPr>
        </p:nvGraphicFramePr>
        <p:xfrm>
          <a:off x="1323816" y="2061210"/>
          <a:ext cx="954436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367">
                  <a:extLst>
                    <a:ext uri="{9D8B030D-6E8A-4147-A177-3AD203B41FA5}">
                      <a16:colId xmlns:a16="http://schemas.microsoft.com/office/drawing/2014/main" val="1618401854"/>
                    </a:ext>
                  </a:extLst>
                </a:gridCol>
              </a:tblGrid>
              <a:tr h="1901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공략법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68462"/>
                  </a:ext>
                </a:extLst>
              </a:tr>
              <a:tr h="15209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받는 피해를 대부분 감소 시키고 키워드 관련 피해를 받지 않으며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책임 전가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통하여 본인이 획득해야 하는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다른 대상에게 전가하여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보유한 대상의 숫자와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늘린다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영원한 평화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매 턴 횟수를 소모하여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소환하고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일 될 경우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과 함께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소멸한다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은 시간이 지나면 도주하여 전장을 이탈한다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발생되는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최소화 하기 위하여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 스킬을 방어하고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검은 숲의 주민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최대한 빠르게 도주할 수 있게 하여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빠르게 소멸하게 해야 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또한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외면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소멸한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책임 전가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 전가한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만큼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를 얻고 보유한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비례하여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주고 받는 피해가 증가하기 때문에 빠르게 피해를 축적하여 제압하는 것이 중요하다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또한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모순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적중되어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대상이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눈 먼 정의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적중 될 경우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 다음 턴 치명적인 스킬인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가혹한 처벌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사용하기 때문에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2F5597"/>
                          </a:solidFill>
                        </a:rPr>
                        <a:t>괴물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부여된 대상이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rgbClr val="C00000"/>
                          </a:solidFill>
                        </a:rPr>
                        <a:t>눈 먼 정의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에 적중하지 않도록 하는 것이 중요하다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76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836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BDF8-9E62-1F0B-B134-8E76D079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C29C8D2-161D-292F-6809-76D53137E1FB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</a:t>
            </a:r>
            <a:r>
              <a:rPr lang="ko-KR" altLang="en-US" sz="3200" dirty="0" err="1"/>
              <a:t>히든</a:t>
            </a:r>
            <a:r>
              <a:rPr lang="ko-KR" altLang="en-US" sz="3200" dirty="0"/>
              <a:t> </a:t>
            </a:r>
            <a:r>
              <a:rPr lang="en-US" altLang="ko-KR" sz="3200" dirty="0"/>
              <a:t>E.G.O </a:t>
            </a:r>
            <a:r>
              <a:rPr lang="ko-KR" altLang="en-US" sz="3200" dirty="0"/>
              <a:t>기프트 </a:t>
            </a:r>
            <a:r>
              <a:rPr lang="en-US" altLang="ko-KR" sz="2400" dirty="0"/>
              <a:t>– </a:t>
            </a:r>
            <a:r>
              <a:rPr lang="ko-KR" altLang="en-US" sz="2400" dirty="0"/>
              <a:t>검은 숲의 파수꾼 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8DA7C3D-0BBB-8D39-7F99-26E36CDD7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108761"/>
              </p:ext>
            </p:extLst>
          </p:nvPr>
        </p:nvGraphicFramePr>
        <p:xfrm>
          <a:off x="3256346" y="1532843"/>
          <a:ext cx="719486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보호하기 위한 눈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모두를 감싸는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등장한다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자신의 죄를 직면한 큰 새는 숲에 이번에는 모두를 감싸기로 했습니다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1EAF95F-2C3D-7FD5-F632-716E4EFA4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256546"/>
              </p:ext>
            </p:extLst>
          </p:nvPr>
        </p:nvGraphicFramePr>
        <p:xfrm>
          <a:off x="3256346" y="3028762"/>
          <a:ext cx="719486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지키기 위한 부기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모두를 지키는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등장한다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자신의 죄를 직면한 작은 새는 이번에는 모두를 지키기로 했습니다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0B8A12D-F78D-EC89-5427-A196F7677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54845"/>
              </p:ext>
            </p:extLst>
          </p:nvPr>
        </p:nvGraphicFramePr>
        <p:xfrm>
          <a:off x="3256346" y="4524681"/>
          <a:ext cx="719486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정의를 위한 저울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모두에게 공정한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등장한다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자신의 죄를 직면한 긴 새는 이번에는 모두를 공정하게 판단하기로 했습니다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B41C0B98-5396-C7A8-1DBC-8DB59310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752" y="1532843"/>
            <a:ext cx="1414427" cy="14325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D90C14-5124-DE0A-E8E8-655168CB8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752" y="3028762"/>
            <a:ext cx="1414427" cy="143256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B8C11DC-A229-1521-FA73-EF11A707D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752" y="4524681"/>
            <a:ext cx="1414427" cy="14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83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29A3-BD43-133D-4C38-7FC0EFAA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ED667EE-7485-24AE-58D1-1E6A508D726C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신규 </a:t>
            </a:r>
            <a:r>
              <a:rPr lang="ko-KR" altLang="en-US" sz="3200" dirty="0" err="1"/>
              <a:t>히든</a:t>
            </a:r>
            <a:r>
              <a:rPr lang="ko-KR" altLang="en-US" sz="3200" dirty="0"/>
              <a:t> </a:t>
            </a:r>
            <a:r>
              <a:rPr lang="en-US" altLang="ko-KR" sz="3200" dirty="0"/>
              <a:t>E.G.O </a:t>
            </a:r>
            <a:r>
              <a:rPr lang="ko-KR" altLang="en-US" sz="3200" dirty="0"/>
              <a:t>기프트 </a:t>
            </a:r>
            <a:r>
              <a:rPr lang="en-US" altLang="ko-KR" sz="2400" dirty="0"/>
              <a:t>– </a:t>
            </a:r>
            <a:r>
              <a:rPr lang="ko-KR" altLang="en-US" sz="2400" dirty="0"/>
              <a:t>평화로운 검은 숲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59B4965-118C-67CD-3B97-65EB9F299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615125"/>
              </p:ext>
            </p:extLst>
          </p:nvPr>
        </p:nvGraphicFramePr>
        <p:xfrm>
          <a:off x="3615941" y="1283970"/>
          <a:ext cx="719486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17">
                  <a:extLst>
                    <a:ext uri="{9D8B030D-6E8A-4147-A177-3AD203B41FA5}">
                      <a16:colId xmlns:a16="http://schemas.microsoft.com/office/drawing/2014/main" val="3996419737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919740830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4064963862"/>
                    </a:ext>
                  </a:extLst>
                </a:gridCol>
                <a:gridCol w="1798717">
                  <a:extLst>
                    <a:ext uri="{9D8B030D-6E8A-4147-A177-3AD203B41FA5}">
                      <a16:colId xmlns:a16="http://schemas.microsoft.com/office/drawing/2014/main" val="79697076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E.G.O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기프트 명칭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영원히 꺼지지 않는 램프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평화로운 검은 숲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28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분류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범용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등급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26797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효과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49227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시작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모두를 감싸는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모두를 지키는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모두에게 공정한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등장한다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모든 수감자와 검은 숲의 주민에게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평화로운 검은 숲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부여한다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다침내 검은 숲은 평화를 되찾았습니다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5349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02B44C2-853A-F229-06D1-57A268C4E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44747"/>
              </p:ext>
            </p:extLst>
          </p:nvPr>
        </p:nvGraphicFramePr>
        <p:xfrm>
          <a:off x="3615941" y="3087955"/>
          <a:ext cx="312293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930">
                  <a:extLst>
                    <a:ext uri="{9D8B030D-6E8A-4147-A177-3AD203B41FA5}">
                      <a16:colId xmlns:a16="http://schemas.microsoft.com/office/drawing/2014/main" val="160029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고유 키워드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평화로운 검은 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316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 턴 모든 수감자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 위력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 턴 모든 수감자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속도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 턴 모든 수감자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정신력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회복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 턴 모든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검은 숲의 주민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면역 부여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17797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4E203E2-2A94-A8D3-7006-B410719F5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568" y="1283970"/>
            <a:ext cx="1625086" cy="16459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31A9DDB-149D-7838-7AC6-5121491670DD}"/>
              </a:ext>
            </a:extLst>
          </p:cNvPr>
          <p:cNvGrpSpPr>
            <a:grpSpLocks noChangeAspect="1"/>
          </p:cNvGrpSpPr>
          <p:nvPr/>
        </p:nvGrpSpPr>
        <p:grpSpPr>
          <a:xfrm>
            <a:off x="2805920" y="5039682"/>
            <a:ext cx="6580159" cy="1045894"/>
            <a:chOff x="1012443" y="5108908"/>
            <a:chExt cx="4971029" cy="79012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85E22E1-76CC-4476-A138-DF58E05CE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2443" y="5108909"/>
              <a:ext cx="780125" cy="79012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ACDB936-2A82-75E0-B8A9-BEFEAEE01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09411" y="5108909"/>
              <a:ext cx="780125" cy="790127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15733D2-248F-B0EB-FB0F-4027B6FB0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06379" y="5108909"/>
              <a:ext cx="780125" cy="79012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852C172-DB39-BDBC-3D7A-C3DCB1F79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73031" y="5276014"/>
              <a:ext cx="455916" cy="455916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C16C137-A36B-7308-E9B6-889AF7A8B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69999" y="5276014"/>
              <a:ext cx="455916" cy="455916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120AFF1-2C48-E746-F37B-D837EFCD7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03347" y="5108908"/>
              <a:ext cx="780125" cy="790126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C13E26F-25D4-4E52-7E38-AA2862A83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66968" y="5367197"/>
              <a:ext cx="455915" cy="273549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FC843BB-0817-C230-DAEA-E41BD955AE5F}"/>
              </a:ext>
            </a:extLst>
          </p:cNvPr>
          <p:cNvSpPr txBox="1"/>
          <p:nvPr/>
        </p:nvSpPr>
        <p:spPr>
          <a:xfrm>
            <a:off x="2805920" y="4660609"/>
            <a:ext cx="658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 </a:t>
            </a:r>
            <a:r>
              <a:rPr lang="ko-KR" altLang="en-US" sz="1400" b="1" dirty="0"/>
              <a:t>종류 </a:t>
            </a:r>
            <a:r>
              <a:rPr lang="en-US" altLang="ko-KR" sz="1400" b="1" dirty="0"/>
              <a:t>E.G.O </a:t>
            </a:r>
            <a:r>
              <a:rPr lang="ko-KR" altLang="en-US" sz="1400" b="1" dirty="0"/>
              <a:t>기프트 모두 획득 시 자동으로 하나의 </a:t>
            </a:r>
            <a:r>
              <a:rPr lang="en-US" altLang="ko-KR" sz="1400" b="1" dirty="0"/>
              <a:t>E.G.O </a:t>
            </a:r>
            <a:r>
              <a:rPr lang="ko-KR" altLang="en-US" sz="1400" b="1" dirty="0"/>
              <a:t>기프트로 합쳐진다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37978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1D76-CF64-7A34-F351-5A3CD0E8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44D69C0-9829-42CF-8C5B-B26B5C1A07D4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ko-KR" altLang="en-US" sz="3200" dirty="0"/>
              <a:t>특수 기믹 </a:t>
            </a:r>
            <a:r>
              <a:rPr lang="en-US" altLang="ko-KR" sz="2000" dirty="0"/>
              <a:t>– </a:t>
            </a:r>
            <a:r>
              <a:rPr lang="ko-KR" altLang="en-US" sz="2000" dirty="0"/>
              <a:t>종말 새 특수 기믹</a:t>
            </a:r>
            <a:endParaRPr lang="en-US" altLang="ko-KR" sz="2400" dirty="0"/>
          </a:p>
        </p:txBody>
      </p:sp>
      <p:graphicFrame>
        <p:nvGraphicFramePr>
          <p:cNvPr id="15" name="표 2">
            <a:extLst>
              <a:ext uri="{FF2B5EF4-FFF2-40B4-BE49-F238E27FC236}">
                <a16:creationId xmlns:a16="http://schemas.microsoft.com/office/drawing/2014/main" id="{72E8F25F-82B5-21F5-C761-4218937C5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20508"/>
              </p:ext>
            </p:extLst>
          </p:nvPr>
        </p:nvGraphicFramePr>
        <p:xfrm>
          <a:off x="1200784" y="3295064"/>
          <a:ext cx="979043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0430">
                  <a:extLst>
                    <a:ext uri="{9D8B030D-6E8A-4147-A177-3AD203B41FA5}">
                      <a16:colId xmlns:a16="http://schemas.microsoft.com/office/drawing/2014/main" val="1841855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종말 새 특수 기믹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41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전투 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모두를 감싸는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모두를 지키는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’, 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모두에게 공정한 새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가 모두 있을 경우 종말 새는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자기 부정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획득한다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66545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F8D7EE91-699A-186A-29C1-67A48E816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24" y="1571262"/>
            <a:ext cx="1421151" cy="143937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39AE9AE-CF15-A07D-B755-711F5EC4E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959663"/>
              </p:ext>
            </p:extLst>
          </p:nvPr>
        </p:nvGraphicFramePr>
        <p:xfrm>
          <a:off x="1200784" y="4189095"/>
          <a:ext cx="45516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1680">
                  <a:extLst>
                    <a:ext uri="{9D8B030D-6E8A-4147-A177-3AD203B41FA5}">
                      <a16:colId xmlns:a16="http://schemas.microsoft.com/office/drawing/2014/main" val="2811562423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고유 키워드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자기 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732307"/>
                  </a:ext>
                </a:extLst>
              </a:tr>
              <a:tr h="1264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체력이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이하로 내려가지 않는다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체력이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이 될 경우 체력을 모두 회복하고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황혼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획득하고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자기 부정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을 잃는다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4062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A44222-3BBA-F908-98DF-77231645C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032435"/>
              </p:ext>
            </p:extLst>
          </p:nvPr>
        </p:nvGraphicFramePr>
        <p:xfrm>
          <a:off x="6439534" y="4189095"/>
          <a:ext cx="4551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1680">
                  <a:extLst>
                    <a:ext uri="{9D8B030D-6E8A-4147-A177-3AD203B41FA5}">
                      <a16:colId xmlns:a16="http://schemas.microsoft.com/office/drawing/2014/main" val="2811562423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고유 키워드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황혼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732307"/>
                  </a:ext>
                </a:extLst>
              </a:tr>
              <a:tr h="1264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최대 횟수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이하로 내려가지 않는다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위력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 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공격 시 피해 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증가 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합 패배 시 횟수를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잃는다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횟수가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 될 경우 흐트러진다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흐트러진 상태에서 회복될 경우 횟수를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로 회복한다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4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366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A6EA-8442-FECD-FAE1-D1A1B5893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26021E4-24D9-850E-3A9E-0E99747DA958}"/>
              </a:ext>
            </a:extLst>
          </p:cNvPr>
          <p:cNvSpPr txBox="1">
            <a:spLocks/>
          </p:cNvSpPr>
          <p:nvPr/>
        </p:nvSpPr>
        <p:spPr>
          <a:xfrm>
            <a:off x="695324" y="387600"/>
            <a:ext cx="10801351" cy="62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07679C3-454C-4B2D-AC29-184CBB2C8CD0}"/>
              </a:ext>
            </a:extLst>
          </p:cNvPr>
          <p:cNvGraphicFramePr>
            <a:graphicFrameLocks noGrp="1"/>
          </p:cNvGraphicFramePr>
          <p:nvPr/>
        </p:nvGraphicFramePr>
        <p:xfrm>
          <a:off x="1148079" y="3017520"/>
          <a:ext cx="989584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5842">
                  <a:extLst>
                    <a:ext uri="{9D8B030D-6E8A-4147-A177-3AD203B41FA5}">
                      <a16:colId xmlns:a16="http://schemas.microsoft.com/office/drawing/2014/main" val="271228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Q</a:t>
                      </a:r>
                      <a:r>
                        <a:rPr kumimoji="0" lang="ko-KR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 </a:t>
                      </a:r>
                      <a:r>
                        <a:rPr kumimoji="0" lang="en-US" altLang="ko-KR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&amp;</a:t>
                      </a:r>
                      <a:r>
                        <a:rPr kumimoji="0" lang="ko-KR" altLang="en-US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 </a:t>
                      </a:r>
                      <a:r>
                        <a:rPr kumimoji="0" lang="en-US" altLang="ko-KR" sz="4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+mn-cs"/>
                        </a:rPr>
                        <a:t>A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5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49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9171</TotalTime>
  <Pages>7</Pages>
  <Words>4800</Words>
  <Characters>0</Characters>
  <Application>Microsoft Office PowerPoint</Application>
  <DocSecurity>0</DocSecurity>
  <PresentationFormat>와이드스크린</PresentationFormat>
  <Lines>0</Lines>
  <Paragraphs>951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Limbus Company 거울 던전 변질 - 황혼의 숲 컨텐츠 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yjk0401</dc:creator>
  <cp:lastModifiedBy>정근 윤</cp:lastModifiedBy>
  <cp:revision>4831</cp:revision>
  <dcterms:modified xsi:type="dcterms:W3CDTF">2025-06-23T00:02:52Z</dcterms:modified>
  <cp:version>9.103.97.45139</cp:version>
</cp:coreProperties>
</file>