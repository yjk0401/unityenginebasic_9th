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70" r:id="rId1"/>
  </p:sldMasterIdLst>
  <p:notesMasterIdLst>
    <p:notesMasterId r:id="rId22"/>
  </p:notesMasterIdLst>
  <p:handoutMasterIdLst>
    <p:handoutMasterId r:id="rId23"/>
  </p:handoutMasterIdLst>
  <p:sldIdLst>
    <p:sldId id="256" r:id="rId2"/>
    <p:sldId id="393" r:id="rId3"/>
    <p:sldId id="401" r:id="rId4"/>
    <p:sldId id="400" r:id="rId5"/>
    <p:sldId id="410" r:id="rId6"/>
    <p:sldId id="399" r:id="rId7"/>
    <p:sldId id="407" r:id="rId8"/>
    <p:sldId id="408" r:id="rId9"/>
    <p:sldId id="409" r:id="rId10"/>
    <p:sldId id="388" r:id="rId11"/>
    <p:sldId id="402" r:id="rId12"/>
    <p:sldId id="395" r:id="rId13"/>
    <p:sldId id="403" r:id="rId14"/>
    <p:sldId id="396" r:id="rId15"/>
    <p:sldId id="404" r:id="rId16"/>
    <p:sldId id="397" r:id="rId17"/>
    <p:sldId id="405" r:id="rId18"/>
    <p:sldId id="398" r:id="rId19"/>
    <p:sldId id="406" r:id="rId20"/>
    <p:sldId id="394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2364" userDrawn="1">
          <p15:clr>
            <a:srgbClr val="A4A3A4"/>
          </p15:clr>
        </p15:guide>
        <p15:guide id="2" orient="horz" pos="6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232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pos="438" userDrawn="1">
          <p15:clr>
            <a:srgbClr val="A4A3A4"/>
          </p15:clr>
        </p15:guide>
        <p15:guide id="9" pos="7242" userDrawn="1">
          <p15:clr>
            <a:srgbClr val="A4A3A4"/>
          </p15:clr>
        </p15:guide>
        <p15:guide id="10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pos="3825">
          <p15:clr>
            <a:srgbClr val="A4A3A4"/>
          </p15:clr>
        </p15:guide>
        <p15:guide id="2" orient="horz" pos="2150">
          <p15:clr>
            <a:srgbClr val="A4A3A4"/>
          </p15:clr>
        </p15:guide>
        <p15:guide id="3" orient="horz" pos="907">
          <p15:clr>
            <a:srgbClr val="A4A3A4"/>
          </p15:clr>
        </p15:guide>
        <p15:guide id="4" orient="horz" pos="3988">
          <p15:clr>
            <a:srgbClr val="A4A3A4"/>
          </p15:clr>
        </p15:guide>
        <p15:guide id="5" pos="209">
          <p15:clr>
            <a:srgbClr val="A4A3A4"/>
          </p15:clr>
        </p15:guide>
        <p15:guide id="6" pos="7445">
          <p15:clr>
            <a:srgbClr val="A4A3A4"/>
          </p15:clr>
        </p15:guide>
        <p15:guide id="7" orient="horz" pos="11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000"/>
    <a:srgbClr val="1A71A8"/>
    <a:srgbClr val="8F8756"/>
    <a:srgbClr val="BCBA8A"/>
    <a:srgbClr val="BDD7EE"/>
    <a:srgbClr val="548235"/>
    <a:srgbClr val="A6A6A6"/>
    <a:srgbClr val="FF8585"/>
    <a:srgbClr val="7F7F7F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6279" autoAdjust="0"/>
  </p:normalViewPr>
  <p:slideViewPr>
    <p:cSldViewPr snapToGrid="0" snapToObjects="1" showGuides="1">
      <p:cViewPr varScale="1">
        <p:scale>
          <a:sx n="93" d="100"/>
          <a:sy n="93" d="100"/>
        </p:scale>
        <p:origin x="78" y="468"/>
      </p:cViewPr>
      <p:guideLst>
        <p:guide pos="3840"/>
        <p:guide orient="horz" pos="2364"/>
        <p:guide orient="horz" pos="640"/>
        <p:guide orient="horz" pos="4088"/>
        <p:guide pos="211"/>
        <p:guide pos="7469"/>
        <p:guide orient="horz" pos="232"/>
        <p:guide orient="horz" pos="799"/>
        <p:guide pos="438"/>
        <p:guide pos="7242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79" d="100"/>
          <a:sy n="79" d="100"/>
        </p:scale>
        <p:origin x="2550" y="102"/>
      </p:cViewPr>
      <p:guideLst>
        <p:guide pos="3825"/>
        <p:guide orient="horz" pos="2150"/>
        <p:guide orient="horz" pos="907"/>
        <p:guide orient="horz" pos="3988"/>
        <p:guide pos="209"/>
        <p:guide pos="7445"/>
        <p:guide orient="horz" pos="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2025-10-07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  <p:hf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10055"/>
            <a:ext cx="10515600" cy="285242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  <p:hf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  <p:hf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13258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40105" y="1681480"/>
            <a:ext cx="5157470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40105" y="2505075"/>
            <a:ext cx="5157470" cy="368490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480"/>
            <a:ext cx="5183505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505" cy="368490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  <p:hf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  <p:hf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  <p:hf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  <p:hf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  <p:hf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6235" cy="435229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  <p:hf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215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215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  <p:hf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>
            <a:lvl1pPr marL="0" indent="0" algn="l" latinLnBrk="0">
              <a:buFontTx/>
              <a:buNone/>
              <a:defRPr lang="en-GB" alt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07/10/2025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6" r:id="rId1"/>
    <p:sldLayoutId id="2147484347" r:id="rId2"/>
    <p:sldLayoutId id="2147484348" r:id="rId3"/>
    <p:sldLayoutId id="2147484349" r:id="rId4"/>
    <p:sldLayoutId id="2147484350" r:id="rId5"/>
    <p:sldLayoutId id="2147484351" r:id="rId6"/>
    <p:sldLayoutId id="2147484352" r:id="rId7"/>
    <p:sldLayoutId id="2147484353" r:id="rId8"/>
    <p:sldLayoutId id="2147484354" r:id="rId9"/>
    <p:sldLayoutId id="2147484355" r:id="rId10"/>
    <p:sldLayoutId id="21474843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latinLnBrk="0"/>
            <a:r>
              <a:rPr lang="en-US" altLang="ko-KR" dirty="0"/>
              <a:t>Limbus Company</a:t>
            </a:r>
            <a:br>
              <a:rPr lang="en-US" altLang="ko-KR" dirty="0"/>
            </a:br>
            <a:r>
              <a:rPr lang="ko-KR" altLang="en-US" sz="4000" dirty="0"/>
              <a:t>캐릭터</a:t>
            </a:r>
            <a:r>
              <a:rPr lang="en-US" altLang="ko-KR" sz="4000" dirty="0"/>
              <a:t>(</a:t>
            </a:r>
            <a:r>
              <a:rPr lang="ko-KR" altLang="en-US" sz="4000" dirty="0"/>
              <a:t>인격</a:t>
            </a:r>
            <a:r>
              <a:rPr lang="en-US" altLang="ko-KR" sz="4000" dirty="0"/>
              <a:t>)</a:t>
            </a:r>
            <a:r>
              <a:rPr lang="ko-KR" altLang="en-US" sz="4000" dirty="0"/>
              <a:t> 기획서</a:t>
            </a:r>
            <a:br>
              <a:rPr lang="en-US" altLang="ko-KR" sz="4400" dirty="0"/>
            </a:br>
            <a:r>
              <a:rPr lang="ko-KR" altLang="en-US" sz="3200" dirty="0"/>
              <a:t>■■■■ </a:t>
            </a:r>
            <a:r>
              <a:rPr lang="en-US" altLang="ko-KR" sz="3200" dirty="0"/>
              <a:t>E.G.O::</a:t>
            </a:r>
            <a:r>
              <a:rPr lang="ko-KR" altLang="en-US" sz="3200" dirty="0"/>
              <a:t>영속 </a:t>
            </a:r>
            <a:r>
              <a:rPr lang="en-US" altLang="ko-KR" sz="3200" dirty="0"/>
              <a:t>- </a:t>
            </a:r>
            <a:r>
              <a:rPr lang="ko-KR" altLang="en-US" sz="3200" dirty="0"/>
              <a:t>파우스트</a:t>
            </a:r>
            <a:endParaRPr lang="ko-KR" altLang="en-US" dirty="0"/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 algn="r" latinLnBrk="0">
              <a:buFontTx/>
              <a:buNone/>
            </a:pPr>
            <a:r>
              <a:rPr lang="ko-KR" altLang="en-US" dirty="0"/>
              <a:t>윤정근</a:t>
            </a: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6D8F-DA27-E2E0-3C0E-16A1DD0E5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E93F4EF-E084-BB7F-0E5F-00B90BC13A89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기획 의도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9598283-E370-CC82-6415-DE196A494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940104"/>
              </p:ext>
            </p:extLst>
          </p:nvPr>
        </p:nvGraphicFramePr>
        <p:xfrm>
          <a:off x="1745297" y="2853690"/>
          <a:ext cx="815213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2130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진동 키워드의 단점으로 꼽히는 진동 유형 관리와 진동 횟수 관리 난이도를 완화시키고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현재 인플레로 인하여 상대적으로 성능이 떨어지는 기존의 진동 인격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캐릭터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인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로보토미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E.G.O::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후회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를 대체할 수 있는 인격으로 기획하였다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 latinLnBrk="1"/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또한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기존에 출시되었던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장비 형태의 인격들과 같이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E.G.O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서로 연동되고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공통된 효과를 보유하게 기획하여 서로 간의 연관성을 가지게 기획하였다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03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EA472-2488-6A52-FC01-68E5C469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 descr="스케치, 그림, 예술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A030E7-23ED-1C18-37E5-11787AE1F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94" y="1268413"/>
            <a:ext cx="4616947" cy="504112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8D5E5A84-0C7F-2E6E-E5EB-D01FFBC20CE5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디자인 컨셉 </a:t>
            </a:r>
            <a:r>
              <a:rPr lang="en-US" altLang="ko-KR" sz="3200" dirty="0"/>
              <a:t>1</a:t>
            </a:r>
            <a:r>
              <a:rPr lang="ko-KR" altLang="en-US" sz="3200" dirty="0"/>
              <a:t>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개요</a:t>
            </a:r>
            <a:endParaRPr lang="en-US" altLang="ko-KR" sz="24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6899F8C-777A-0CB7-80A1-989BE5FEF05E}"/>
              </a:ext>
            </a:extLst>
          </p:cNvPr>
          <p:cNvGrpSpPr/>
          <p:nvPr/>
        </p:nvGrpSpPr>
        <p:grpSpPr>
          <a:xfrm>
            <a:off x="9833010" y="1545550"/>
            <a:ext cx="1458287" cy="4414600"/>
            <a:chOff x="9833010" y="1501039"/>
            <a:chExt cx="1458287" cy="4414600"/>
          </a:xfrm>
        </p:grpSpPr>
        <p:pic>
          <p:nvPicPr>
            <p:cNvPr id="10" name="그림 9" descr="의류, 러플, 패션 디자인, 패턴(패션 디자인)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97B072C-BBC6-2B5A-E2E6-3C5E51FF4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1719" l="9844" r="91406">
                          <a14:foregroundMark x1="24219" y1="48594" x2="32188" y2="47031"/>
                          <a14:foregroundMark x1="32188" y1="47031" x2="43438" y2="41250"/>
                          <a14:foregroundMark x1="43438" y1="41250" x2="45625" y2="39063"/>
                          <a14:foregroundMark x1="54844" y1="43750" x2="56250" y2="41719"/>
                          <a14:foregroundMark x1="64531" y1="51250" x2="68750" y2="58438"/>
                          <a14:foregroundMark x1="75625" y1="52969" x2="78438" y2="58281"/>
                          <a14:foregroundMark x1="25469" y1="91719" x2="25469" y2="91719"/>
                          <a14:foregroundMark x1="9844" y1="83750" x2="12812" y2="81719"/>
                          <a14:foregroundMark x1="42500" y1="35156" x2="49531" y2="31563"/>
                          <a14:foregroundMark x1="89063" y1="84688" x2="89063" y2="84688"/>
                          <a14:foregroundMark x1="91406" y1="86094" x2="90000" y2="85469"/>
                          <a14:foregroundMark x1="47969" y1="15781" x2="52188" y2="1921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3011" y="2888053"/>
              <a:ext cx="1458286" cy="14582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그림 12" descr="텍스트, 스케치, 그림, 새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399D4B2-D9F8-2DB0-2694-BD8603D43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3010" y="1501039"/>
              <a:ext cx="1458286" cy="1276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7" name="그림 16" descr="기어, 메탈웨어, 자동차 부품, 바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55FED3E-1674-A0EE-82FE-887D4C4B8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3011" y="4457353"/>
              <a:ext cx="1458286" cy="14582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09557F-3040-FDF3-9EF5-8DA48018F391}"/>
              </a:ext>
            </a:extLst>
          </p:cNvPr>
          <p:cNvSpPr/>
          <p:nvPr/>
        </p:nvSpPr>
        <p:spPr>
          <a:xfrm>
            <a:off x="5113654" y="1545551"/>
            <a:ext cx="4616947" cy="1275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원본 </a:t>
            </a:r>
            <a:r>
              <a:rPr lang="en-US" altLang="ko-KR" sz="1400" b="1" dirty="0">
                <a:solidFill>
                  <a:schemeClr val="tx1"/>
                </a:solidFill>
              </a:rPr>
              <a:t>E.G.O</a:t>
            </a:r>
            <a:r>
              <a:rPr lang="ko-KR" altLang="en-US" sz="1400" b="1" dirty="0">
                <a:solidFill>
                  <a:schemeClr val="tx1"/>
                </a:solidFill>
              </a:rPr>
              <a:t>의 컨셉 중 하나인 </a:t>
            </a:r>
            <a:r>
              <a:rPr lang="en-US" altLang="ko-KR" sz="1400" b="1" dirty="0">
                <a:solidFill>
                  <a:schemeClr val="tx1"/>
                </a:solidFill>
              </a:rPr>
              <a:t>‘</a:t>
            </a:r>
            <a:r>
              <a:rPr lang="ko-KR" altLang="en-US" sz="1400" b="1" dirty="0">
                <a:solidFill>
                  <a:schemeClr val="tx1"/>
                </a:solidFill>
              </a:rPr>
              <a:t>토끼</a:t>
            </a:r>
            <a:r>
              <a:rPr lang="en-US" altLang="ko-KR" sz="1400" b="1" dirty="0">
                <a:solidFill>
                  <a:schemeClr val="tx1"/>
                </a:solidFill>
              </a:rPr>
              <a:t>-</a:t>
            </a:r>
            <a:r>
              <a:rPr lang="ko-KR" altLang="en-US" sz="1400" b="1" dirty="0">
                <a:solidFill>
                  <a:schemeClr val="tx1"/>
                </a:solidFill>
              </a:rPr>
              <a:t>오리 착시</a:t>
            </a:r>
            <a:r>
              <a:rPr lang="en-US" altLang="ko-KR" sz="1400" b="1" dirty="0">
                <a:solidFill>
                  <a:schemeClr val="tx1"/>
                </a:solidFill>
              </a:rPr>
              <a:t>’</a:t>
            </a:r>
            <a:r>
              <a:rPr lang="ko-KR" altLang="en-US" sz="1400" b="1" dirty="0">
                <a:solidFill>
                  <a:schemeClr val="tx1"/>
                </a:solidFill>
              </a:rPr>
              <a:t>에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착안하여 조류의 부리 같은 형상과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롭 이어 토끼 귀와 같은 형상을 가진 면사포를 착용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75752C1-0081-0D97-85C5-F342B5E8E53B}"/>
              </a:ext>
            </a:extLst>
          </p:cNvPr>
          <p:cNvSpPr/>
          <p:nvPr/>
        </p:nvSpPr>
        <p:spPr>
          <a:xfrm>
            <a:off x="5113654" y="2932564"/>
            <a:ext cx="4616947" cy="14582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원본 </a:t>
            </a:r>
            <a:r>
              <a:rPr lang="en-US" altLang="ko-KR" sz="1400" b="1" dirty="0">
                <a:solidFill>
                  <a:schemeClr val="tx1"/>
                </a:solidFill>
              </a:rPr>
              <a:t>E.G.O</a:t>
            </a:r>
            <a:r>
              <a:rPr lang="ko-KR" altLang="en-US" sz="1400" b="1" dirty="0">
                <a:solidFill>
                  <a:schemeClr val="tx1"/>
                </a:solidFill>
              </a:rPr>
              <a:t>와 비슷한 형상을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위하여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드레스 형태의 복장 착용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46319AB-6F4F-C13A-4912-C20E843E651C}"/>
              </a:ext>
            </a:extLst>
          </p:cNvPr>
          <p:cNvSpPr/>
          <p:nvPr/>
        </p:nvSpPr>
        <p:spPr>
          <a:xfrm>
            <a:off x="5113652" y="4501864"/>
            <a:ext cx="4616947" cy="14582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시간과 관련된 컨셉을 보유한 원본 </a:t>
            </a:r>
            <a:r>
              <a:rPr lang="en-US" altLang="ko-KR" sz="1400" b="1" dirty="0">
                <a:solidFill>
                  <a:schemeClr val="tx1"/>
                </a:solidFill>
              </a:rPr>
              <a:t>E.G.O</a:t>
            </a:r>
            <a:r>
              <a:rPr lang="ko-KR" altLang="en-US" sz="1400" b="1" dirty="0">
                <a:solidFill>
                  <a:schemeClr val="tx1"/>
                </a:solidFill>
              </a:rPr>
              <a:t>와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비슷한 느낌을 가질 수 있게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곳곳에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톱니 바퀴 형상의 악세서리를 추가함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E471B3C2-790A-E8A0-6484-04928A93E34F}"/>
              </a:ext>
            </a:extLst>
          </p:cNvPr>
          <p:cNvSpPr/>
          <p:nvPr/>
        </p:nvSpPr>
        <p:spPr>
          <a:xfrm>
            <a:off x="3262313" y="1524000"/>
            <a:ext cx="1152525" cy="1366838"/>
          </a:xfrm>
          <a:custGeom>
            <a:avLst/>
            <a:gdLst>
              <a:gd name="connsiteX0" fmla="*/ 819150 w 1152525"/>
              <a:gd name="connsiteY0" fmla="*/ 14288 h 1366838"/>
              <a:gd name="connsiteX1" fmla="*/ 500062 w 1152525"/>
              <a:gd name="connsiteY1" fmla="*/ 0 h 1366838"/>
              <a:gd name="connsiteX2" fmla="*/ 209550 w 1152525"/>
              <a:gd name="connsiteY2" fmla="*/ 314325 h 1366838"/>
              <a:gd name="connsiteX3" fmla="*/ 242887 w 1152525"/>
              <a:gd name="connsiteY3" fmla="*/ 723900 h 1366838"/>
              <a:gd name="connsiteX4" fmla="*/ 147637 w 1152525"/>
              <a:gd name="connsiteY4" fmla="*/ 1038225 h 1366838"/>
              <a:gd name="connsiteX5" fmla="*/ 0 w 1152525"/>
              <a:gd name="connsiteY5" fmla="*/ 1309688 h 1366838"/>
              <a:gd name="connsiteX6" fmla="*/ 252412 w 1152525"/>
              <a:gd name="connsiteY6" fmla="*/ 1243013 h 1366838"/>
              <a:gd name="connsiteX7" fmla="*/ 338137 w 1152525"/>
              <a:gd name="connsiteY7" fmla="*/ 1304925 h 1366838"/>
              <a:gd name="connsiteX8" fmla="*/ 500062 w 1152525"/>
              <a:gd name="connsiteY8" fmla="*/ 1162050 h 1366838"/>
              <a:gd name="connsiteX9" fmla="*/ 590550 w 1152525"/>
              <a:gd name="connsiteY9" fmla="*/ 533400 h 1366838"/>
              <a:gd name="connsiteX10" fmla="*/ 742950 w 1152525"/>
              <a:gd name="connsiteY10" fmla="*/ 595313 h 1366838"/>
              <a:gd name="connsiteX11" fmla="*/ 885825 w 1152525"/>
              <a:gd name="connsiteY11" fmla="*/ 733425 h 1366838"/>
              <a:gd name="connsiteX12" fmla="*/ 804862 w 1152525"/>
              <a:gd name="connsiteY12" fmla="*/ 1219200 h 1366838"/>
              <a:gd name="connsiteX13" fmla="*/ 919162 w 1152525"/>
              <a:gd name="connsiteY13" fmla="*/ 1285875 h 1366838"/>
              <a:gd name="connsiteX14" fmla="*/ 990600 w 1152525"/>
              <a:gd name="connsiteY14" fmla="*/ 1366838 h 1366838"/>
              <a:gd name="connsiteX15" fmla="*/ 1071562 w 1152525"/>
              <a:gd name="connsiteY15" fmla="*/ 1233488 h 1366838"/>
              <a:gd name="connsiteX16" fmla="*/ 1019175 w 1152525"/>
              <a:gd name="connsiteY16" fmla="*/ 804863 h 1366838"/>
              <a:gd name="connsiteX17" fmla="*/ 1090612 w 1152525"/>
              <a:gd name="connsiteY17" fmla="*/ 476250 h 1366838"/>
              <a:gd name="connsiteX18" fmla="*/ 1152525 w 1152525"/>
              <a:gd name="connsiteY18" fmla="*/ 423863 h 1366838"/>
              <a:gd name="connsiteX19" fmla="*/ 1104900 w 1152525"/>
              <a:gd name="connsiteY19" fmla="*/ 214313 h 1366838"/>
              <a:gd name="connsiteX20" fmla="*/ 819150 w 1152525"/>
              <a:gd name="connsiteY20" fmla="*/ 14288 h 136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52525" h="1366838">
                <a:moveTo>
                  <a:pt x="819150" y="14288"/>
                </a:moveTo>
                <a:lnTo>
                  <a:pt x="500062" y="0"/>
                </a:lnTo>
                <a:lnTo>
                  <a:pt x="209550" y="314325"/>
                </a:lnTo>
                <a:lnTo>
                  <a:pt x="242887" y="723900"/>
                </a:lnTo>
                <a:lnTo>
                  <a:pt x="147637" y="1038225"/>
                </a:lnTo>
                <a:lnTo>
                  <a:pt x="0" y="1309688"/>
                </a:lnTo>
                <a:lnTo>
                  <a:pt x="252412" y="1243013"/>
                </a:lnTo>
                <a:lnTo>
                  <a:pt x="338137" y="1304925"/>
                </a:lnTo>
                <a:lnTo>
                  <a:pt x="500062" y="1162050"/>
                </a:lnTo>
                <a:lnTo>
                  <a:pt x="590550" y="533400"/>
                </a:lnTo>
                <a:lnTo>
                  <a:pt x="742950" y="595313"/>
                </a:lnTo>
                <a:lnTo>
                  <a:pt x="885825" y="733425"/>
                </a:lnTo>
                <a:lnTo>
                  <a:pt x="804862" y="1219200"/>
                </a:lnTo>
                <a:lnTo>
                  <a:pt x="919162" y="1285875"/>
                </a:lnTo>
                <a:lnTo>
                  <a:pt x="990600" y="1366838"/>
                </a:lnTo>
                <a:lnTo>
                  <a:pt x="1071562" y="1233488"/>
                </a:lnTo>
                <a:lnTo>
                  <a:pt x="1019175" y="804863"/>
                </a:lnTo>
                <a:lnTo>
                  <a:pt x="1090612" y="476250"/>
                </a:lnTo>
                <a:lnTo>
                  <a:pt x="1152525" y="423863"/>
                </a:lnTo>
                <a:lnTo>
                  <a:pt x="1104900" y="214313"/>
                </a:lnTo>
                <a:lnTo>
                  <a:pt x="819150" y="14288"/>
                </a:lnTo>
                <a:close/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F74DFC94-99F8-07AF-9D0D-A04FA13A7C04}"/>
              </a:ext>
            </a:extLst>
          </p:cNvPr>
          <p:cNvSpPr/>
          <p:nvPr/>
        </p:nvSpPr>
        <p:spPr>
          <a:xfrm>
            <a:off x="2266950" y="3019425"/>
            <a:ext cx="2095500" cy="3109913"/>
          </a:xfrm>
          <a:custGeom>
            <a:avLst/>
            <a:gdLst>
              <a:gd name="connsiteX0" fmla="*/ 1676400 w 2095500"/>
              <a:gd name="connsiteY0" fmla="*/ 71438 h 3109913"/>
              <a:gd name="connsiteX1" fmla="*/ 1504950 w 2095500"/>
              <a:gd name="connsiteY1" fmla="*/ 0 h 3109913"/>
              <a:gd name="connsiteX2" fmla="*/ 1481138 w 2095500"/>
              <a:gd name="connsiteY2" fmla="*/ 223838 h 3109913"/>
              <a:gd name="connsiteX3" fmla="*/ 1276350 w 2095500"/>
              <a:gd name="connsiteY3" fmla="*/ 290513 h 3109913"/>
              <a:gd name="connsiteX4" fmla="*/ 1266825 w 2095500"/>
              <a:gd name="connsiteY4" fmla="*/ 661988 h 3109913"/>
              <a:gd name="connsiteX5" fmla="*/ 1414463 w 2095500"/>
              <a:gd name="connsiteY5" fmla="*/ 733425 h 3109913"/>
              <a:gd name="connsiteX6" fmla="*/ 1290638 w 2095500"/>
              <a:gd name="connsiteY6" fmla="*/ 1109663 h 3109913"/>
              <a:gd name="connsiteX7" fmla="*/ 1038225 w 2095500"/>
              <a:gd name="connsiteY7" fmla="*/ 1809750 h 3109913"/>
              <a:gd name="connsiteX8" fmla="*/ 785813 w 2095500"/>
              <a:gd name="connsiteY8" fmla="*/ 2424113 h 3109913"/>
              <a:gd name="connsiteX9" fmla="*/ 33338 w 2095500"/>
              <a:gd name="connsiteY9" fmla="*/ 2995613 h 3109913"/>
              <a:gd name="connsiteX10" fmla="*/ 0 w 2095500"/>
              <a:gd name="connsiteY10" fmla="*/ 3109913 h 3109913"/>
              <a:gd name="connsiteX11" fmla="*/ 785813 w 2095500"/>
              <a:gd name="connsiteY11" fmla="*/ 2933700 h 3109913"/>
              <a:gd name="connsiteX12" fmla="*/ 1014413 w 2095500"/>
              <a:gd name="connsiteY12" fmla="*/ 2814638 h 3109913"/>
              <a:gd name="connsiteX13" fmla="*/ 1185863 w 2095500"/>
              <a:gd name="connsiteY13" fmla="*/ 3033713 h 3109913"/>
              <a:gd name="connsiteX14" fmla="*/ 1671638 w 2095500"/>
              <a:gd name="connsiteY14" fmla="*/ 2614613 h 3109913"/>
              <a:gd name="connsiteX15" fmla="*/ 1690688 w 2095500"/>
              <a:gd name="connsiteY15" fmla="*/ 2400300 h 3109913"/>
              <a:gd name="connsiteX16" fmla="*/ 1976438 w 2095500"/>
              <a:gd name="connsiteY16" fmla="*/ 2747963 h 3109913"/>
              <a:gd name="connsiteX17" fmla="*/ 2095500 w 2095500"/>
              <a:gd name="connsiteY17" fmla="*/ 2566988 h 3109913"/>
              <a:gd name="connsiteX18" fmla="*/ 2066925 w 2095500"/>
              <a:gd name="connsiteY18" fmla="*/ 938213 h 3109913"/>
              <a:gd name="connsiteX19" fmla="*/ 1914525 w 2095500"/>
              <a:gd name="connsiteY19" fmla="*/ 604838 h 3109913"/>
              <a:gd name="connsiteX20" fmla="*/ 2038350 w 2095500"/>
              <a:gd name="connsiteY20" fmla="*/ 471488 h 3109913"/>
              <a:gd name="connsiteX21" fmla="*/ 1895475 w 2095500"/>
              <a:gd name="connsiteY21" fmla="*/ 142875 h 3109913"/>
              <a:gd name="connsiteX22" fmla="*/ 1790700 w 2095500"/>
              <a:gd name="connsiteY22" fmla="*/ 19050 h 3109913"/>
              <a:gd name="connsiteX23" fmla="*/ 1676400 w 2095500"/>
              <a:gd name="connsiteY23" fmla="*/ 71438 h 310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095500" h="3109913">
                <a:moveTo>
                  <a:pt x="1676400" y="71438"/>
                </a:moveTo>
                <a:lnTo>
                  <a:pt x="1504950" y="0"/>
                </a:lnTo>
                <a:lnTo>
                  <a:pt x="1481138" y="223838"/>
                </a:lnTo>
                <a:lnTo>
                  <a:pt x="1276350" y="290513"/>
                </a:lnTo>
                <a:lnTo>
                  <a:pt x="1266825" y="661988"/>
                </a:lnTo>
                <a:lnTo>
                  <a:pt x="1414463" y="733425"/>
                </a:lnTo>
                <a:lnTo>
                  <a:pt x="1290638" y="1109663"/>
                </a:lnTo>
                <a:lnTo>
                  <a:pt x="1038225" y="1809750"/>
                </a:lnTo>
                <a:lnTo>
                  <a:pt x="785813" y="2424113"/>
                </a:lnTo>
                <a:lnTo>
                  <a:pt x="33338" y="2995613"/>
                </a:lnTo>
                <a:lnTo>
                  <a:pt x="0" y="3109913"/>
                </a:lnTo>
                <a:lnTo>
                  <a:pt x="785813" y="2933700"/>
                </a:lnTo>
                <a:lnTo>
                  <a:pt x="1014413" y="2814638"/>
                </a:lnTo>
                <a:lnTo>
                  <a:pt x="1185863" y="3033713"/>
                </a:lnTo>
                <a:lnTo>
                  <a:pt x="1671638" y="2614613"/>
                </a:lnTo>
                <a:lnTo>
                  <a:pt x="1690688" y="2400300"/>
                </a:lnTo>
                <a:lnTo>
                  <a:pt x="1976438" y="2747963"/>
                </a:lnTo>
                <a:lnTo>
                  <a:pt x="2095500" y="2566988"/>
                </a:lnTo>
                <a:lnTo>
                  <a:pt x="2066925" y="938213"/>
                </a:lnTo>
                <a:lnTo>
                  <a:pt x="1914525" y="604838"/>
                </a:lnTo>
                <a:lnTo>
                  <a:pt x="2038350" y="471488"/>
                </a:lnTo>
                <a:lnTo>
                  <a:pt x="1895475" y="142875"/>
                </a:lnTo>
                <a:lnTo>
                  <a:pt x="1790700" y="19050"/>
                </a:lnTo>
                <a:lnTo>
                  <a:pt x="1676400" y="71438"/>
                </a:lnTo>
                <a:close/>
              </a:path>
            </a:pathLst>
          </a:cu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4DEB0F78-692C-41CB-00CD-F9990D97BC62}"/>
              </a:ext>
            </a:extLst>
          </p:cNvPr>
          <p:cNvSpPr/>
          <p:nvPr/>
        </p:nvSpPr>
        <p:spPr>
          <a:xfrm>
            <a:off x="1424002" y="4827489"/>
            <a:ext cx="473173" cy="473173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01B78BC-8D87-B9B9-4669-D9C1225E7B48}"/>
              </a:ext>
            </a:extLst>
          </p:cNvPr>
          <p:cNvSpPr/>
          <p:nvPr/>
        </p:nvSpPr>
        <p:spPr>
          <a:xfrm>
            <a:off x="2202015" y="2522345"/>
            <a:ext cx="473173" cy="473173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8751C74-7E87-DAE1-208C-A7C5AF36BA4C}"/>
              </a:ext>
            </a:extLst>
          </p:cNvPr>
          <p:cNvSpPr/>
          <p:nvPr/>
        </p:nvSpPr>
        <p:spPr>
          <a:xfrm>
            <a:off x="2675188" y="3019425"/>
            <a:ext cx="587125" cy="587125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3C93275A-C691-4C2D-36D4-DE5EE677E1D3}"/>
              </a:ext>
            </a:extLst>
          </p:cNvPr>
          <p:cNvSpPr/>
          <p:nvPr/>
        </p:nvSpPr>
        <p:spPr>
          <a:xfrm>
            <a:off x="3600857" y="3914739"/>
            <a:ext cx="402467" cy="402467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0823B34-F05A-29DC-BD6B-52B2D906A3C1}"/>
              </a:ext>
            </a:extLst>
          </p:cNvPr>
          <p:cNvCxnSpPr>
            <a:stCxn id="29" idx="1"/>
            <a:endCxn id="34" idx="18"/>
          </p:cNvCxnSpPr>
          <p:nvPr/>
        </p:nvCxnSpPr>
        <p:spPr>
          <a:xfrm rot="10800000">
            <a:off x="4414838" y="1947863"/>
            <a:ext cx="698816" cy="235688"/>
          </a:xfrm>
          <a:prstGeom prst="bentConnector3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40F4FA5-E268-4CD2-C406-F660A0EEB45F}"/>
              </a:ext>
            </a:extLst>
          </p:cNvPr>
          <p:cNvCxnSpPr>
            <a:cxnSpLocks/>
            <a:stCxn id="30" idx="1"/>
            <a:endCxn id="35" idx="21"/>
          </p:cNvCxnSpPr>
          <p:nvPr/>
        </p:nvCxnSpPr>
        <p:spPr>
          <a:xfrm rot="10800000">
            <a:off x="4162426" y="3162301"/>
            <a:ext cx="951229" cy="499407"/>
          </a:xfrm>
          <a:prstGeom prst="bentConnector3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B6CFF230-AF0C-93EC-7436-CAFF2F87F59F}"/>
              </a:ext>
            </a:extLst>
          </p:cNvPr>
          <p:cNvCxnSpPr>
            <a:cxnSpLocks/>
            <a:stCxn id="31" idx="1"/>
            <a:endCxn id="39" idx="4"/>
          </p:cNvCxnSpPr>
          <p:nvPr/>
        </p:nvCxnSpPr>
        <p:spPr>
          <a:xfrm rot="10800000">
            <a:off x="3802092" y="4317207"/>
            <a:ext cx="1311561" cy="913801"/>
          </a:xfrm>
          <a:prstGeom prst="bentConnector2">
            <a:avLst/>
          </a:prstGeom>
          <a:ln w="38100">
            <a:solidFill>
              <a:srgbClr val="1A71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0F12F682-13B6-E1FB-0D33-00E45D659176}"/>
              </a:ext>
            </a:extLst>
          </p:cNvPr>
          <p:cNvCxnSpPr>
            <a:cxnSpLocks/>
            <a:stCxn id="31" idx="1"/>
            <a:endCxn id="38" idx="4"/>
          </p:cNvCxnSpPr>
          <p:nvPr/>
        </p:nvCxnSpPr>
        <p:spPr>
          <a:xfrm rot="10800000">
            <a:off x="2968752" y="3606551"/>
            <a:ext cx="2144901" cy="1624457"/>
          </a:xfrm>
          <a:prstGeom prst="bentConnector2">
            <a:avLst/>
          </a:prstGeom>
          <a:ln w="38100">
            <a:solidFill>
              <a:srgbClr val="1A71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2F130EBB-C7F5-0CB5-62B5-77ED3EED8ADF}"/>
              </a:ext>
            </a:extLst>
          </p:cNvPr>
          <p:cNvCxnSpPr>
            <a:cxnSpLocks/>
            <a:stCxn id="31" idx="1"/>
            <a:endCxn id="36" idx="4"/>
          </p:cNvCxnSpPr>
          <p:nvPr/>
        </p:nvCxnSpPr>
        <p:spPr>
          <a:xfrm rot="10800000" flipV="1">
            <a:off x="1660590" y="5231006"/>
            <a:ext cx="3453063" cy="69655"/>
          </a:xfrm>
          <a:prstGeom prst="bentConnector4">
            <a:avLst>
              <a:gd name="adj1" fmla="val 46574"/>
              <a:gd name="adj2" fmla="val 1374981"/>
            </a:avLst>
          </a:prstGeom>
          <a:ln w="38100">
            <a:solidFill>
              <a:srgbClr val="1A71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E2F08541-F08E-C010-2A1A-6E9359F4869D}"/>
              </a:ext>
            </a:extLst>
          </p:cNvPr>
          <p:cNvCxnSpPr>
            <a:cxnSpLocks/>
            <a:stCxn id="31" idx="1"/>
            <a:endCxn id="37" idx="4"/>
          </p:cNvCxnSpPr>
          <p:nvPr/>
        </p:nvCxnSpPr>
        <p:spPr>
          <a:xfrm rot="10800000">
            <a:off x="2438602" y="2995519"/>
            <a:ext cx="2675050" cy="2235489"/>
          </a:xfrm>
          <a:prstGeom prst="bentConnector2">
            <a:avLst/>
          </a:prstGeom>
          <a:ln w="38100">
            <a:solidFill>
              <a:srgbClr val="1A71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558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7D1F-0BC3-2FF4-C537-B9417279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26837EE-8A61-B3E8-665C-6803F824763D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디자인 컨셉 </a:t>
            </a:r>
            <a:r>
              <a:rPr lang="en-US" altLang="ko-KR" sz="3200" dirty="0"/>
              <a:t>2</a:t>
            </a:r>
            <a:r>
              <a:rPr lang="ko-KR" altLang="en-US" sz="3200" dirty="0"/>
              <a:t> </a:t>
            </a:r>
            <a:r>
              <a:rPr lang="en-US" altLang="ko-KR" sz="3200" dirty="0"/>
              <a:t>–</a:t>
            </a:r>
            <a:r>
              <a:rPr lang="en-US" altLang="ko-KR" sz="2400" dirty="0"/>
              <a:t> </a:t>
            </a:r>
            <a:r>
              <a:rPr lang="ko-KR" altLang="en-US" sz="2400" dirty="0"/>
              <a:t>개요</a:t>
            </a:r>
            <a:endParaRPr lang="en-US" altLang="ko-KR" sz="2400" dirty="0"/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6C7D9E9-2EC3-9FBD-2271-24357AB1A7F7}"/>
              </a:ext>
            </a:extLst>
          </p:cNvPr>
          <p:cNvGrpSpPr/>
          <p:nvPr/>
        </p:nvGrpSpPr>
        <p:grpSpPr>
          <a:xfrm>
            <a:off x="1313968" y="1387011"/>
            <a:ext cx="4175716" cy="4713896"/>
            <a:chOff x="806129" y="1387011"/>
            <a:chExt cx="4175716" cy="471389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E22060D-ABF1-C119-F8E5-AAA3C78F3CDC}"/>
                </a:ext>
              </a:extLst>
            </p:cNvPr>
            <p:cNvSpPr/>
            <p:nvPr/>
          </p:nvSpPr>
          <p:spPr>
            <a:xfrm>
              <a:off x="806129" y="5139564"/>
              <a:ext cx="4175716" cy="961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시곗바늘 시침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분침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초침 형태의 무기 사용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각각 한손검 시침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양손검 분침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장창 초침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4EE4D2C7-E964-6B13-150C-F85EF001530F}"/>
                </a:ext>
              </a:extLst>
            </p:cNvPr>
            <p:cNvGrpSpPr/>
            <p:nvPr/>
          </p:nvGrpSpPr>
          <p:grpSpPr>
            <a:xfrm>
              <a:off x="1202085" y="1387011"/>
              <a:ext cx="3383803" cy="3565250"/>
              <a:chOff x="868903" y="1387011"/>
              <a:chExt cx="3652096" cy="3847929"/>
            </a:xfrm>
          </p:grpSpPr>
          <p:pic>
            <p:nvPicPr>
              <p:cNvPr id="79" name="그림 78" descr="무기, 냉병기, 근접 무기, 단검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7CB86A6-34E8-3CBB-C7BD-11A31E21E6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 flipH="1">
                <a:off x="319377" y="2086929"/>
                <a:ext cx="3693000" cy="2468945"/>
              </a:xfrm>
              <a:prstGeom prst="rect">
                <a:avLst/>
              </a:prstGeom>
            </p:spPr>
          </p:pic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0405892D-A7C5-F8A0-674A-1700FF442693}"/>
                  </a:ext>
                </a:extLst>
              </p:cNvPr>
              <p:cNvSpPr/>
              <p:nvPr/>
            </p:nvSpPr>
            <p:spPr>
              <a:xfrm>
                <a:off x="868903" y="1387011"/>
                <a:ext cx="488998" cy="3847929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0CA67E93-A1B4-8D95-1871-D42C19667733}"/>
                  </a:ext>
                </a:extLst>
              </p:cNvPr>
              <p:cNvSpPr/>
              <p:nvPr/>
            </p:nvSpPr>
            <p:spPr>
              <a:xfrm>
                <a:off x="1905367" y="1387011"/>
                <a:ext cx="551499" cy="3565989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43AA09FE-9BB5-9370-B612-FBF2B22BACC7}"/>
                  </a:ext>
                </a:extLst>
              </p:cNvPr>
              <p:cNvSpPr/>
              <p:nvPr/>
            </p:nvSpPr>
            <p:spPr>
              <a:xfrm>
                <a:off x="2848851" y="1387011"/>
                <a:ext cx="634426" cy="2041990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72D04AF9-EFB3-3EDF-876B-D336B715E815}"/>
                  </a:ext>
                </a:extLst>
              </p:cNvPr>
              <p:cNvGrpSpPr/>
              <p:nvPr/>
            </p:nvGrpSpPr>
            <p:grpSpPr>
              <a:xfrm>
                <a:off x="3652238" y="3605120"/>
                <a:ext cx="868761" cy="295460"/>
                <a:chOff x="6197194" y="3105975"/>
                <a:chExt cx="1021662" cy="213285"/>
              </a:xfrm>
            </p:grpSpPr>
            <p:sp>
              <p:nvSpPr>
                <p:cNvPr id="86" name="화살표: 왼쪽/오른쪽 85">
                  <a:extLst>
                    <a:ext uri="{FF2B5EF4-FFF2-40B4-BE49-F238E27FC236}">
                      <a16:creationId xmlns:a16="http://schemas.microsoft.com/office/drawing/2014/main" id="{C914438D-CA55-2E01-F64A-211A52981E10}"/>
                    </a:ext>
                  </a:extLst>
                </p:cNvPr>
                <p:cNvSpPr/>
                <p:nvPr/>
              </p:nvSpPr>
              <p:spPr>
                <a:xfrm>
                  <a:off x="6197196" y="3105975"/>
                  <a:ext cx="1021660" cy="213285"/>
                </a:xfrm>
                <a:prstGeom prst="leftRightArrow">
                  <a:avLst>
                    <a:gd name="adj1" fmla="val 100000"/>
                    <a:gd name="adj2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b="1"/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D2D78A9-D080-6DAA-4152-84642A1AD6E6}"/>
                    </a:ext>
                  </a:extLst>
                </p:cNvPr>
                <p:cNvSpPr txBox="1"/>
                <p:nvPr/>
              </p:nvSpPr>
              <p:spPr>
                <a:xfrm>
                  <a:off x="6197194" y="3124768"/>
                  <a:ext cx="1021662" cy="18885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ko-KR" altLang="en-US" sz="1100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시침</a:t>
                  </a:r>
                </a:p>
              </p:txBody>
            </p:sp>
          </p:grpSp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EEF4AE9A-A495-C138-756B-81BD6C366156}"/>
                  </a:ext>
                </a:extLst>
              </p:cNvPr>
              <p:cNvGrpSpPr/>
              <p:nvPr/>
            </p:nvGrpSpPr>
            <p:grpSpPr>
              <a:xfrm>
                <a:off x="3652238" y="4230252"/>
                <a:ext cx="868761" cy="295460"/>
                <a:chOff x="6197194" y="3105975"/>
                <a:chExt cx="1021662" cy="213285"/>
              </a:xfrm>
            </p:grpSpPr>
            <p:sp>
              <p:nvSpPr>
                <p:cNvPr id="89" name="화살표: 왼쪽/오른쪽 88">
                  <a:extLst>
                    <a:ext uri="{FF2B5EF4-FFF2-40B4-BE49-F238E27FC236}">
                      <a16:creationId xmlns:a16="http://schemas.microsoft.com/office/drawing/2014/main" id="{8E5C36D3-AC26-AB53-5098-B6DA812F6E1F}"/>
                    </a:ext>
                  </a:extLst>
                </p:cNvPr>
                <p:cNvSpPr/>
                <p:nvPr/>
              </p:nvSpPr>
              <p:spPr>
                <a:xfrm>
                  <a:off x="6197196" y="3105975"/>
                  <a:ext cx="1021660" cy="213285"/>
                </a:xfrm>
                <a:prstGeom prst="leftRightArrow">
                  <a:avLst>
                    <a:gd name="adj1" fmla="val 100000"/>
                    <a:gd name="adj2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b="1"/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C28146E6-6DC3-B342-C534-F20191585D0B}"/>
                    </a:ext>
                  </a:extLst>
                </p:cNvPr>
                <p:cNvSpPr txBox="1"/>
                <p:nvPr/>
              </p:nvSpPr>
              <p:spPr>
                <a:xfrm>
                  <a:off x="6197194" y="3124768"/>
                  <a:ext cx="1021662" cy="18885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ko-KR" altLang="en-US" sz="1100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분침</a:t>
                  </a:r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72B8A5DE-1F5E-9F9C-EB9E-496391BE43A8}"/>
                  </a:ext>
                </a:extLst>
              </p:cNvPr>
              <p:cNvGrpSpPr/>
              <p:nvPr/>
            </p:nvGrpSpPr>
            <p:grpSpPr>
              <a:xfrm>
                <a:off x="3652238" y="4874459"/>
                <a:ext cx="868761" cy="295460"/>
                <a:chOff x="6197194" y="3105975"/>
                <a:chExt cx="1021662" cy="213285"/>
              </a:xfrm>
            </p:grpSpPr>
            <p:sp>
              <p:nvSpPr>
                <p:cNvPr id="92" name="화살표: 왼쪽/오른쪽 91">
                  <a:extLst>
                    <a:ext uri="{FF2B5EF4-FFF2-40B4-BE49-F238E27FC236}">
                      <a16:creationId xmlns:a16="http://schemas.microsoft.com/office/drawing/2014/main" id="{D8D451C6-69FF-8B1F-5406-35D89EA5915B}"/>
                    </a:ext>
                  </a:extLst>
                </p:cNvPr>
                <p:cNvSpPr/>
                <p:nvPr/>
              </p:nvSpPr>
              <p:spPr>
                <a:xfrm>
                  <a:off x="6197196" y="3105975"/>
                  <a:ext cx="1021660" cy="213285"/>
                </a:xfrm>
                <a:prstGeom prst="leftRightArrow">
                  <a:avLst>
                    <a:gd name="adj1" fmla="val 100000"/>
                    <a:gd name="adj2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b="1"/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01CD8DA-65D2-3A8D-24D0-2630E866B376}"/>
                    </a:ext>
                  </a:extLst>
                </p:cNvPr>
                <p:cNvSpPr txBox="1"/>
                <p:nvPr/>
              </p:nvSpPr>
              <p:spPr>
                <a:xfrm>
                  <a:off x="6197194" y="3124768"/>
                  <a:ext cx="1021662" cy="18885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ko-KR" altLang="en-US" sz="1100" b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초침</a:t>
                  </a:r>
                </a:p>
              </p:txBody>
            </p:sp>
          </p:grpSp>
          <p:cxnSp>
            <p:nvCxnSpPr>
              <p:cNvPr id="95" name="연결선: 꺾임 94">
                <a:extLst>
                  <a:ext uri="{FF2B5EF4-FFF2-40B4-BE49-F238E27FC236}">
                    <a16:creationId xmlns:a16="http://schemas.microsoft.com/office/drawing/2014/main" id="{E30ACC16-C6B9-2418-8763-6E3FEBCD22B5}"/>
                  </a:ext>
                </a:extLst>
              </p:cNvPr>
              <p:cNvCxnSpPr>
                <a:stCxn id="84" idx="2"/>
                <a:endCxn id="87" idx="1"/>
              </p:cNvCxnSpPr>
              <p:nvPr/>
            </p:nvCxnSpPr>
            <p:spPr>
              <a:xfrm rot="16200000" flipH="1">
                <a:off x="3242672" y="3352393"/>
                <a:ext cx="332959" cy="486174"/>
              </a:xfrm>
              <a:prstGeom prst="bentConnector2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연결선: 꺾임 95">
                <a:extLst>
                  <a:ext uri="{FF2B5EF4-FFF2-40B4-BE49-F238E27FC236}">
                    <a16:creationId xmlns:a16="http://schemas.microsoft.com/office/drawing/2014/main" id="{3EC57C5A-7579-6A6C-40DD-BC461C2FA804}"/>
                  </a:ext>
                </a:extLst>
              </p:cNvPr>
              <p:cNvCxnSpPr>
                <a:cxnSpLocks/>
                <a:stCxn id="83" idx="3"/>
                <a:endCxn id="90" idx="1"/>
              </p:cNvCxnSpPr>
              <p:nvPr/>
            </p:nvCxnSpPr>
            <p:spPr>
              <a:xfrm>
                <a:off x="2456866" y="3170006"/>
                <a:ext cx="1195372" cy="1217086"/>
              </a:xfrm>
              <a:prstGeom prst="bentConnector3">
                <a:avLst>
                  <a:gd name="adj1" fmla="val 17065"/>
                </a:avLst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연결선: 꺾임 99">
                <a:extLst>
                  <a:ext uri="{FF2B5EF4-FFF2-40B4-BE49-F238E27FC236}">
                    <a16:creationId xmlns:a16="http://schemas.microsoft.com/office/drawing/2014/main" id="{B4F3331A-4B15-2932-818D-9EDF6534851A}"/>
                  </a:ext>
                </a:extLst>
              </p:cNvPr>
              <p:cNvCxnSpPr>
                <a:cxnSpLocks/>
                <a:stCxn id="81" idx="3"/>
                <a:endCxn id="93" idx="2"/>
              </p:cNvCxnSpPr>
              <p:nvPr/>
            </p:nvCxnSpPr>
            <p:spPr>
              <a:xfrm>
                <a:off x="1357901" y="3310976"/>
                <a:ext cx="2728718" cy="1851128"/>
              </a:xfrm>
              <a:prstGeom prst="bentConnector4">
                <a:avLst>
                  <a:gd name="adj1" fmla="val 10625"/>
                  <a:gd name="adj2" fmla="val 108576"/>
                </a:avLst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4B7DECF6-C959-EB88-AC61-A8FA6E092AA2}"/>
              </a:ext>
            </a:extLst>
          </p:cNvPr>
          <p:cNvGrpSpPr/>
          <p:nvPr/>
        </p:nvGrpSpPr>
        <p:grpSpPr>
          <a:xfrm>
            <a:off x="6566255" y="1468444"/>
            <a:ext cx="4597319" cy="4667958"/>
            <a:chOff x="6756653" y="1468444"/>
            <a:chExt cx="4597319" cy="4667958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97F92C7-B228-EA4A-40CF-940A3075EB7C}"/>
                </a:ext>
              </a:extLst>
            </p:cNvPr>
            <p:cNvSpPr/>
            <p:nvPr/>
          </p:nvSpPr>
          <p:spPr>
            <a:xfrm>
              <a:off x="6756653" y="5032515"/>
              <a:ext cx="4463765" cy="11038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3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개의 무기는 시계에 배치할 경우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회전의 중심인 구멍이 있으며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,</a:t>
              </a: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전투 시 해당 구멍을 중점으로 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3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개의 무기가 모여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날개 형상으로 보이도록 배치함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.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80" name="그림 79" descr="만화 영화, 검, 아니메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C698ED7-1182-A314-70A3-86F12BCE9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0531" y="1566718"/>
              <a:ext cx="3203441" cy="2982708"/>
            </a:xfrm>
            <a:prstGeom prst="rect">
              <a:avLst/>
            </a:prstGeom>
          </p:spPr>
        </p:pic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293D5A9-3C28-A14D-915C-B04415C700FC}"/>
                </a:ext>
              </a:extLst>
            </p:cNvPr>
            <p:cNvGrpSpPr/>
            <p:nvPr/>
          </p:nvGrpSpPr>
          <p:grpSpPr>
            <a:xfrm>
              <a:off x="6785312" y="4656134"/>
              <a:ext cx="1632284" cy="295460"/>
              <a:chOff x="6197194" y="3105975"/>
              <a:chExt cx="1021662" cy="213285"/>
            </a:xfrm>
          </p:grpSpPr>
          <p:sp>
            <p:nvSpPr>
              <p:cNvPr id="120" name="화살표: 왼쪽/오른쪽 119">
                <a:extLst>
                  <a:ext uri="{FF2B5EF4-FFF2-40B4-BE49-F238E27FC236}">
                    <a16:creationId xmlns:a16="http://schemas.microsoft.com/office/drawing/2014/main" id="{E142B3B4-1992-F912-A2BC-06A8DFCBA9FF}"/>
                  </a:ext>
                </a:extLst>
              </p:cNvPr>
              <p:cNvSpPr/>
              <p:nvPr/>
            </p:nvSpPr>
            <p:spPr>
              <a:xfrm>
                <a:off x="6197196" y="3105975"/>
                <a:ext cx="1021660" cy="213285"/>
              </a:xfrm>
              <a:prstGeom prst="leftRightArrow">
                <a:avLst>
                  <a:gd name="adj1" fmla="val 100000"/>
                  <a:gd name="adj2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E87F5E4-6DBC-2617-6280-0454A304FC07}"/>
                  </a:ext>
                </a:extLst>
              </p:cNvPr>
              <p:cNvSpPr txBox="1"/>
              <p:nvPr/>
            </p:nvSpPr>
            <p:spPr>
              <a:xfrm>
                <a:off x="6197194" y="3124768"/>
                <a:ext cx="1021662" cy="18885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chemeClr val="bg1">
                        <a:lumMod val="95000"/>
                      </a:schemeClr>
                    </a:solidFill>
                  </a:rPr>
                  <a:t>각 무기의 회전 축</a:t>
                </a:r>
              </a:p>
            </p:txBody>
          </p:sp>
        </p:grp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4F6A6D05-BCD2-7438-AC77-6C15DD6B2FF7}"/>
                </a:ext>
              </a:extLst>
            </p:cNvPr>
            <p:cNvGrpSpPr/>
            <p:nvPr/>
          </p:nvGrpSpPr>
          <p:grpSpPr>
            <a:xfrm>
              <a:off x="8813603" y="4656134"/>
              <a:ext cx="2406815" cy="295460"/>
              <a:chOff x="6197195" y="3105975"/>
              <a:chExt cx="1021662" cy="213285"/>
            </a:xfrm>
          </p:grpSpPr>
          <p:sp>
            <p:nvSpPr>
              <p:cNvPr id="124" name="화살표: 왼쪽/오른쪽 123">
                <a:extLst>
                  <a:ext uri="{FF2B5EF4-FFF2-40B4-BE49-F238E27FC236}">
                    <a16:creationId xmlns:a16="http://schemas.microsoft.com/office/drawing/2014/main" id="{BA9E4575-955A-DB21-A18C-86AD7F981A9E}"/>
                  </a:ext>
                </a:extLst>
              </p:cNvPr>
              <p:cNvSpPr/>
              <p:nvPr/>
            </p:nvSpPr>
            <p:spPr>
              <a:xfrm>
                <a:off x="6197196" y="3105975"/>
                <a:ext cx="1021660" cy="213285"/>
              </a:xfrm>
              <a:prstGeom prst="leftRightArrow">
                <a:avLst>
                  <a:gd name="adj1" fmla="val 100000"/>
                  <a:gd name="adj2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B70E76C-AFA9-F611-4765-C7F8BEEDBB0C}"/>
                  </a:ext>
                </a:extLst>
              </p:cNvPr>
              <p:cNvSpPr txBox="1"/>
              <p:nvPr/>
            </p:nvSpPr>
            <p:spPr>
              <a:xfrm>
                <a:off x="6197195" y="3124768"/>
                <a:ext cx="1021662" cy="18885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1100" b="1" dirty="0">
                    <a:solidFill>
                      <a:schemeClr val="bg1">
                        <a:lumMod val="95000"/>
                      </a:schemeClr>
                    </a:solidFill>
                  </a:rPr>
                  <a:t>전투 시 날개 형태로 배치된 모습</a:t>
                </a:r>
              </a:p>
            </p:txBody>
          </p:sp>
        </p:grpSp>
        <p:pic>
          <p:nvPicPr>
            <p:cNvPr id="131" name="그림 130" descr="무기, 냉병기, 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02F6666-8FF1-2947-E53B-95E3268DA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5310" y="1468444"/>
              <a:ext cx="1632286" cy="3105150"/>
            </a:xfrm>
            <a:prstGeom prst="rect">
              <a:avLst/>
            </a:prstGeom>
          </p:spPr>
        </p:pic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3F2190DF-8E05-94DA-F46B-DD353296F618}"/>
                </a:ext>
              </a:extLst>
            </p:cNvPr>
            <p:cNvSpPr/>
            <p:nvPr/>
          </p:nvSpPr>
          <p:spPr>
            <a:xfrm>
              <a:off x="7255989" y="1923126"/>
              <a:ext cx="194599" cy="19459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B27F6DF2-8AAC-70AB-9949-90405C49906B}"/>
                </a:ext>
              </a:extLst>
            </p:cNvPr>
            <p:cNvSpPr/>
            <p:nvPr/>
          </p:nvSpPr>
          <p:spPr>
            <a:xfrm>
              <a:off x="7633814" y="1923126"/>
              <a:ext cx="194599" cy="19459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DCA4C312-1E37-CF30-6362-125BD582CD50}"/>
                </a:ext>
              </a:extLst>
            </p:cNvPr>
            <p:cNvSpPr/>
            <p:nvPr/>
          </p:nvSpPr>
          <p:spPr>
            <a:xfrm>
              <a:off x="8078314" y="1923126"/>
              <a:ext cx="194599" cy="19459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913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514E-654A-F1E9-C016-DCDBBDF9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075BD3C-49E8-2F75-9E63-1EC110348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98" y="1016000"/>
            <a:ext cx="10039403" cy="584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27475537-ED81-C46C-258C-728E456F0EA1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인격 운영 알고리즘</a:t>
            </a:r>
            <a:endParaRPr lang="en-US" altLang="ko-KR" sz="2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4BC1CE-4773-3106-DD99-9480AD56A556}"/>
              </a:ext>
            </a:extLst>
          </p:cNvPr>
          <p:cNvSpPr/>
          <p:nvPr/>
        </p:nvSpPr>
        <p:spPr>
          <a:xfrm>
            <a:off x="1255588" y="2615699"/>
            <a:ext cx="1763838" cy="3108825"/>
          </a:xfrm>
          <a:prstGeom prst="rect">
            <a:avLst/>
          </a:prstGeom>
          <a:noFill/>
          <a:ln w="57150">
            <a:solidFill>
              <a:srgbClr val="BF9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E21412-1E9E-D13C-868B-3D82D07E0AEC}"/>
              </a:ext>
            </a:extLst>
          </p:cNvPr>
          <p:cNvSpPr/>
          <p:nvPr/>
        </p:nvSpPr>
        <p:spPr>
          <a:xfrm>
            <a:off x="3132040" y="2615699"/>
            <a:ext cx="3954559" cy="2642101"/>
          </a:xfrm>
          <a:prstGeom prst="rect">
            <a:avLst/>
          </a:prstGeom>
          <a:noFill/>
          <a:ln w="57150">
            <a:solidFill>
              <a:schemeClr val="accent1">
                <a:lumMod val="75000"/>
                <a:alpha val="50196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636C57-845A-0F34-4957-442EBC56DFC5}"/>
              </a:ext>
            </a:extLst>
          </p:cNvPr>
          <p:cNvSpPr/>
          <p:nvPr/>
        </p:nvSpPr>
        <p:spPr>
          <a:xfrm>
            <a:off x="7198413" y="2615699"/>
            <a:ext cx="3954559" cy="2642101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  <a:alpha val="50196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1A760D3-914C-071D-D5EF-0D682F392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792154"/>
              </p:ext>
            </p:extLst>
          </p:nvPr>
        </p:nvGraphicFramePr>
        <p:xfrm>
          <a:off x="9340214" y="1312929"/>
          <a:ext cx="215646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68">
                  <a:extLst>
                    <a:ext uri="{9D8B030D-6E8A-4147-A177-3AD203B41FA5}">
                      <a16:colId xmlns:a16="http://schemas.microsoft.com/office/drawing/2014/main" val="1358669092"/>
                    </a:ext>
                  </a:extLst>
                </a:gridCol>
                <a:gridCol w="1730693">
                  <a:extLst>
                    <a:ext uri="{9D8B030D-6E8A-4147-A177-3AD203B41FA5}">
                      <a16:colId xmlns:a16="http://schemas.microsoft.com/office/drawing/2014/main" val="655055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영역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37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일반 스킬 영역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241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수비 스킬 영역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774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34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1581-B88C-3AC7-1E50-6D66C335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536C312-AEFE-025F-C025-2764CA927102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패시브 </a:t>
            </a:r>
            <a:r>
              <a:rPr lang="en-US" altLang="ko-KR" sz="3200" dirty="0"/>
              <a:t>&amp; </a:t>
            </a:r>
            <a:r>
              <a:rPr lang="ko-KR" altLang="en-US" sz="3200" dirty="0"/>
              <a:t>서포트 패시브 스킬</a:t>
            </a:r>
            <a:endParaRPr lang="en-US" altLang="ko-KR" sz="2400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3B9F2C4-82BE-1377-6E20-2FAE2C1B4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293258"/>
              </p:ext>
            </p:extLst>
          </p:nvPr>
        </p:nvGraphicFramePr>
        <p:xfrm>
          <a:off x="4535170" y="2990467"/>
          <a:ext cx="696150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150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캐릭터가 전투에 등장할 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비활성화 상태로 보유하고 시작한다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시곗바늘이 활성화된 턴 및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턴 종료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rgbClr val="C00000"/>
                          </a:solidFill>
                        </a:rPr>
                        <a:t>진폭 변환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rgbClr val="C00000"/>
                          </a:solidFill>
                        </a:rPr>
                        <a:t>진폭 얽힘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효과로 진동 유형 변경되거나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되어 소멸하는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유형을 활성화된 해당 시곗바늘에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발동 시 대상에게 현재 활성화된 모든 시곗바늘에 기록된 진동 유형을 진폭 얽힘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E.G.O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종류 시 모든 시곗바늘 비활성화 및 기록 초기화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6676B80-F8CD-DBDA-90E9-2315B5B4A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777562"/>
              </p:ext>
            </p:extLst>
          </p:nvPr>
        </p:nvGraphicFramePr>
        <p:xfrm>
          <a:off x="4498658" y="1731684"/>
          <a:ext cx="696150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150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18689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가속되는 시간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18689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4"/>
                          </a:solidFill>
                        </a:rPr>
                        <a:t>  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나태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자원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× 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이상 보유 시 적용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732610"/>
                  </a:ext>
                </a:extLst>
              </a:tr>
              <a:tr h="436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속도가 자신보다 느릴 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피해량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대상과의 속도 차이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× 5)% 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50%]</a:t>
                      </a: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활성화 상태의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하나당 가속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획득한다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</a:tbl>
          </a:graphicData>
        </a:graphic>
      </p:graphicFrame>
      <p:pic>
        <p:nvPicPr>
          <p:cNvPr id="21" name="그림 2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4AC518-6BEC-D537-F860-DD27CCC0A2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12" y="1660182"/>
            <a:ext cx="3309452" cy="1800775"/>
          </a:xfrm>
          <a:prstGeom prst="rect">
            <a:avLst/>
          </a:prstGeom>
        </p:spPr>
      </p:pic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B539CF4F-65BC-1B94-AF9F-EE303FC7AE5A}"/>
              </a:ext>
            </a:extLst>
          </p:cNvPr>
          <p:cNvSpPr/>
          <p:nvPr/>
        </p:nvSpPr>
        <p:spPr>
          <a:xfrm>
            <a:off x="886701" y="1291714"/>
            <a:ext cx="2842818" cy="433447"/>
          </a:xfrm>
          <a:custGeom>
            <a:avLst/>
            <a:gdLst>
              <a:gd name="connsiteX0" fmla="*/ 0 w 1473993"/>
              <a:gd name="connsiteY0" fmla="*/ 54769 h 361950"/>
              <a:gd name="connsiteX1" fmla="*/ 57150 w 1473993"/>
              <a:gd name="connsiteY1" fmla="*/ 300038 h 361950"/>
              <a:gd name="connsiteX2" fmla="*/ 1259681 w 1473993"/>
              <a:gd name="connsiteY2" fmla="*/ 361950 h 361950"/>
              <a:gd name="connsiteX3" fmla="*/ 1473993 w 1473993"/>
              <a:gd name="connsiteY3" fmla="*/ 297657 h 361950"/>
              <a:gd name="connsiteX4" fmla="*/ 1254918 w 1473993"/>
              <a:gd name="connsiteY4" fmla="*/ 0 h 361950"/>
              <a:gd name="connsiteX5" fmla="*/ 0 w 1473993"/>
              <a:gd name="connsiteY5" fmla="*/ 54769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3993" h="361950">
                <a:moveTo>
                  <a:pt x="0" y="54769"/>
                </a:moveTo>
                <a:lnTo>
                  <a:pt x="57150" y="300038"/>
                </a:lnTo>
                <a:lnTo>
                  <a:pt x="1259681" y="361950"/>
                </a:lnTo>
                <a:lnTo>
                  <a:pt x="1473993" y="297657"/>
                </a:lnTo>
                <a:lnTo>
                  <a:pt x="1254918" y="0"/>
                </a:lnTo>
                <a:lnTo>
                  <a:pt x="0" y="5476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/>
              <a:t> 패시브 키워드 설명창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D3C50F-A215-4555-5915-90FCF812BA6A}"/>
              </a:ext>
            </a:extLst>
          </p:cNvPr>
          <p:cNvGrpSpPr/>
          <p:nvPr/>
        </p:nvGrpSpPr>
        <p:grpSpPr>
          <a:xfrm>
            <a:off x="1023488" y="4379218"/>
            <a:ext cx="3265778" cy="1101738"/>
            <a:chOff x="6096000" y="1527286"/>
            <a:chExt cx="5086028" cy="1715814"/>
          </a:xfrm>
        </p:grpSpPr>
        <p:pic>
          <p:nvPicPr>
            <p:cNvPr id="40" name="그림 39" descr="무기, 냉병기, 근접 무기, 단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BDA4D63-8784-3414-9566-33BD313B5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096000" y="1593666"/>
              <a:ext cx="2380650" cy="1591577"/>
            </a:xfrm>
            <a:prstGeom prst="rect">
              <a:avLst/>
            </a:prstGeom>
          </p:spPr>
        </p:pic>
        <p:pic>
          <p:nvPicPr>
            <p:cNvPr id="42" name="그림 41" descr="공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9356B3D-4B3B-61AF-42BE-26857AF4D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7068" y="1527286"/>
              <a:ext cx="2514960" cy="1715814"/>
            </a:xfrm>
            <a:prstGeom prst="rect">
              <a:avLst/>
            </a:prstGeom>
          </p:spPr>
        </p:pic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A1E56C-7A2B-9C65-9FD7-DF62EE9898DC}"/>
              </a:ext>
            </a:extLst>
          </p:cNvPr>
          <p:cNvSpPr/>
          <p:nvPr/>
        </p:nvSpPr>
        <p:spPr>
          <a:xfrm>
            <a:off x="984624" y="4361753"/>
            <a:ext cx="1614875" cy="1119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F90A9D6-F836-2CFC-13F0-64DD737FFB73}"/>
              </a:ext>
            </a:extLst>
          </p:cNvPr>
          <p:cNvSpPr/>
          <p:nvPr/>
        </p:nvSpPr>
        <p:spPr>
          <a:xfrm>
            <a:off x="2674391" y="4361753"/>
            <a:ext cx="1614875" cy="1119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2F66669-8DCE-CA2D-8CC8-3EB3F6D19E04}"/>
              </a:ext>
            </a:extLst>
          </p:cNvPr>
          <p:cNvSpPr/>
          <p:nvPr/>
        </p:nvSpPr>
        <p:spPr>
          <a:xfrm>
            <a:off x="886701" y="3760045"/>
            <a:ext cx="2534594" cy="433447"/>
          </a:xfrm>
          <a:custGeom>
            <a:avLst/>
            <a:gdLst>
              <a:gd name="connsiteX0" fmla="*/ 0 w 1473993"/>
              <a:gd name="connsiteY0" fmla="*/ 54769 h 361950"/>
              <a:gd name="connsiteX1" fmla="*/ 57150 w 1473993"/>
              <a:gd name="connsiteY1" fmla="*/ 300038 h 361950"/>
              <a:gd name="connsiteX2" fmla="*/ 1259681 w 1473993"/>
              <a:gd name="connsiteY2" fmla="*/ 361950 h 361950"/>
              <a:gd name="connsiteX3" fmla="*/ 1473993 w 1473993"/>
              <a:gd name="connsiteY3" fmla="*/ 297657 h 361950"/>
              <a:gd name="connsiteX4" fmla="*/ 1254918 w 1473993"/>
              <a:gd name="connsiteY4" fmla="*/ 0 h 361950"/>
              <a:gd name="connsiteX5" fmla="*/ 0 w 1473993"/>
              <a:gd name="connsiteY5" fmla="*/ 54769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3993" h="361950">
                <a:moveTo>
                  <a:pt x="0" y="54769"/>
                </a:moveTo>
                <a:lnTo>
                  <a:pt x="57150" y="300038"/>
                </a:lnTo>
                <a:lnTo>
                  <a:pt x="1259681" y="361950"/>
                </a:lnTo>
                <a:lnTo>
                  <a:pt x="1473993" y="297657"/>
                </a:lnTo>
                <a:lnTo>
                  <a:pt x="1254918" y="0"/>
                </a:lnTo>
                <a:lnTo>
                  <a:pt x="0" y="5476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/>
              <a:t> 시곗바늘 외형 차이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575EDDE-1856-17F7-E0A8-05862DD37EEB}"/>
              </a:ext>
            </a:extLst>
          </p:cNvPr>
          <p:cNvGrpSpPr/>
          <p:nvPr/>
        </p:nvGrpSpPr>
        <p:grpSpPr>
          <a:xfrm>
            <a:off x="1080159" y="5525730"/>
            <a:ext cx="1415292" cy="295460"/>
            <a:chOff x="6197194" y="3105975"/>
            <a:chExt cx="1021662" cy="213285"/>
          </a:xfrm>
        </p:grpSpPr>
        <p:sp>
          <p:nvSpPr>
            <p:cNvPr id="10" name="화살표: 왼쪽/오른쪽 9">
              <a:extLst>
                <a:ext uri="{FF2B5EF4-FFF2-40B4-BE49-F238E27FC236}">
                  <a16:creationId xmlns:a16="http://schemas.microsoft.com/office/drawing/2014/main" id="{7B1E5C80-35FB-5D40-BF72-FE40774E45E1}"/>
                </a:ext>
              </a:extLst>
            </p:cNvPr>
            <p:cNvSpPr/>
            <p:nvPr/>
          </p:nvSpPr>
          <p:spPr>
            <a:xfrm>
              <a:off x="6197196" y="3105975"/>
              <a:ext cx="1021660" cy="213285"/>
            </a:xfrm>
            <a:prstGeom prst="leftRightArrow">
              <a:avLst>
                <a:gd name="adj1" fmla="val 100000"/>
                <a:gd name="adj2" fmla="val 5000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AB264B-C505-5631-6FCE-404D0B534ED6}"/>
                </a:ext>
              </a:extLst>
            </p:cNvPr>
            <p:cNvSpPr txBox="1"/>
            <p:nvPr/>
          </p:nvSpPr>
          <p:spPr>
            <a:xfrm>
              <a:off x="6197194" y="3124768"/>
              <a:ext cx="1021662" cy="188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비활성화 상태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EFCBFAC-B957-75E4-6E1A-9BB3F14819D1}"/>
              </a:ext>
            </a:extLst>
          </p:cNvPr>
          <p:cNvGrpSpPr/>
          <p:nvPr/>
        </p:nvGrpSpPr>
        <p:grpSpPr>
          <a:xfrm>
            <a:off x="2878194" y="5517915"/>
            <a:ext cx="1207267" cy="295460"/>
            <a:chOff x="9463290" y="3105975"/>
            <a:chExt cx="871494" cy="213285"/>
          </a:xfrm>
        </p:grpSpPr>
        <p:sp>
          <p:nvSpPr>
            <p:cNvPr id="14" name="화살표: 왼쪽/오른쪽 13">
              <a:extLst>
                <a:ext uri="{FF2B5EF4-FFF2-40B4-BE49-F238E27FC236}">
                  <a16:creationId xmlns:a16="http://schemas.microsoft.com/office/drawing/2014/main" id="{1E96947F-3416-B2F8-25A1-E874B82F1E79}"/>
                </a:ext>
              </a:extLst>
            </p:cNvPr>
            <p:cNvSpPr/>
            <p:nvPr/>
          </p:nvSpPr>
          <p:spPr>
            <a:xfrm>
              <a:off x="9463292" y="3105975"/>
              <a:ext cx="871492" cy="213285"/>
            </a:xfrm>
            <a:prstGeom prst="leftRightArrow">
              <a:avLst>
                <a:gd name="adj1" fmla="val 100000"/>
                <a:gd name="adj2" fmla="val 5000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365485-C676-D4BD-D68D-90EA626DA9C0}"/>
                </a:ext>
              </a:extLst>
            </p:cNvPr>
            <p:cNvSpPr txBox="1"/>
            <p:nvPr/>
          </p:nvSpPr>
          <p:spPr>
            <a:xfrm>
              <a:off x="9463290" y="3124768"/>
              <a:ext cx="871494" cy="188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활성화 상태</a:t>
              </a: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C04FC2D-369A-7BFD-8CD0-DE74889DB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303402"/>
              </p:ext>
            </p:extLst>
          </p:nvPr>
        </p:nvGraphicFramePr>
        <p:xfrm>
          <a:off x="4498658" y="5368756"/>
          <a:ext cx="696150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150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진폭 확장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나태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자원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3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이상 보유 시 적용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11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잔영 생성될 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rgbClr val="C00000"/>
                          </a:solidFill>
                        </a:rPr>
                        <a:t>진폭 변환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rgbClr val="C00000"/>
                          </a:solidFill>
                        </a:rPr>
                        <a:t>진폭 얽힘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의 효과로 진동 유형 변경 시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 횟수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추가 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</a:tbl>
          </a:graphicData>
        </a:graphic>
      </p:graphicFrame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2C0AB8F6-D2CC-9BB1-72BF-C6A7AC1AA8C4}"/>
              </a:ext>
            </a:extLst>
          </p:cNvPr>
          <p:cNvSpPr/>
          <p:nvPr/>
        </p:nvSpPr>
        <p:spPr>
          <a:xfrm>
            <a:off x="4498658" y="4935309"/>
            <a:ext cx="2568894" cy="433447"/>
          </a:xfrm>
          <a:custGeom>
            <a:avLst/>
            <a:gdLst>
              <a:gd name="connsiteX0" fmla="*/ 0 w 1473993"/>
              <a:gd name="connsiteY0" fmla="*/ 54769 h 361950"/>
              <a:gd name="connsiteX1" fmla="*/ 57150 w 1473993"/>
              <a:gd name="connsiteY1" fmla="*/ 300038 h 361950"/>
              <a:gd name="connsiteX2" fmla="*/ 1259681 w 1473993"/>
              <a:gd name="connsiteY2" fmla="*/ 361950 h 361950"/>
              <a:gd name="connsiteX3" fmla="*/ 1473993 w 1473993"/>
              <a:gd name="connsiteY3" fmla="*/ 297657 h 361950"/>
              <a:gd name="connsiteX4" fmla="*/ 1254918 w 1473993"/>
              <a:gd name="connsiteY4" fmla="*/ 0 h 361950"/>
              <a:gd name="connsiteX5" fmla="*/ 0 w 1473993"/>
              <a:gd name="connsiteY5" fmla="*/ 54769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3993" h="361950">
                <a:moveTo>
                  <a:pt x="0" y="54769"/>
                </a:moveTo>
                <a:lnTo>
                  <a:pt x="57150" y="300038"/>
                </a:lnTo>
                <a:lnTo>
                  <a:pt x="1259681" y="361950"/>
                </a:lnTo>
                <a:lnTo>
                  <a:pt x="1473993" y="297657"/>
                </a:lnTo>
                <a:lnTo>
                  <a:pt x="1254918" y="0"/>
                </a:lnTo>
                <a:lnTo>
                  <a:pt x="0" y="54769"/>
                </a:lnTo>
                <a:close/>
              </a:path>
            </a:pathLst>
          </a:custGeom>
          <a:solidFill>
            <a:srgbClr val="BCBA8A"/>
          </a:solidFill>
          <a:ln w="28575">
            <a:solidFill>
              <a:srgbClr val="8F8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/>
              <a:t> 서포트 패시브 스킬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6485A46B-6E5F-5D0D-D856-E48B28E9248B}"/>
              </a:ext>
            </a:extLst>
          </p:cNvPr>
          <p:cNvSpPr/>
          <p:nvPr/>
        </p:nvSpPr>
        <p:spPr>
          <a:xfrm>
            <a:off x="4498658" y="1291714"/>
            <a:ext cx="1756094" cy="433447"/>
          </a:xfrm>
          <a:custGeom>
            <a:avLst/>
            <a:gdLst>
              <a:gd name="connsiteX0" fmla="*/ 0 w 1473993"/>
              <a:gd name="connsiteY0" fmla="*/ 54769 h 361950"/>
              <a:gd name="connsiteX1" fmla="*/ 57150 w 1473993"/>
              <a:gd name="connsiteY1" fmla="*/ 300038 h 361950"/>
              <a:gd name="connsiteX2" fmla="*/ 1259681 w 1473993"/>
              <a:gd name="connsiteY2" fmla="*/ 361950 h 361950"/>
              <a:gd name="connsiteX3" fmla="*/ 1473993 w 1473993"/>
              <a:gd name="connsiteY3" fmla="*/ 297657 h 361950"/>
              <a:gd name="connsiteX4" fmla="*/ 1254918 w 1473993"/>
              <a:gd name="connsiteY4" fmla="*/ 0 h 361950"/>
              <a:gd name="connsiteX5" fmla="*/ 0 w 1473993"/>
              <a:gd name="connsiteY5" fmla="*/ 54769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3993" h="361950">
                <a:moveTo>
                  <a:pt x="0" y="54769"/>
                </a:moveTo>
                <a:lnTo>
                  <a:pt x="57150" y="300038"/>
                </a:lnTo>
                <a:lnTo>
                  <a:pt x="1259681" y="361950"/>
                </a:lnTo>
                <a:lnTo>
                  <a:pt x="1473993" y="297657"/>
                </a:lnTo>
                <a:lnTo>
                  <a:pt x="1254918" y="0"/>
                </a:lnTo>
                <a:lnTo>
                  <a:pt x="0" y="54769"/>
                </a:lnTo>
                <a:close/>
              </a:path>
            </a:pathLst>
          </a:custGeom>
          <a:solidFill>
            <a:srgbClr val="BCBA8A"/>
          </a:solidFill>
          <a:ln w="28575">
            <a:solidFill>
              <a:srgbClr val="8F8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/>
              <a:t> 패시브 스킬</a:t>
            </a:r>
          </a:p>
        </p:txBody>
      </p:sp>
      <p:pic>
        <p:nvPicPr>
          <p:cNvPr id="8" name="그림 7" descr="노랑, 육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5E0B49-ECF7-6149-7C82-DB904A3303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048" y="2066188"/>
            <a:ext cx="195285" cy="165450"/>
          </a:xfrm>
          <a:prstGeom prst="rect">
            <a:avLst/>
          </a:prstGeom>
        </p:spPr>
      </p:pic>
      <p:pic>
        <p:nvPicPr>
          <p:cNvPr id="9" name="그림 8" descr="노랑, 육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23C2E5-FD46-2349-4928-143CEE0579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048" y="5697511"/>
            <a:ext cx="195285" cy="16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9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E5AB7-84D1-F102-5D2E-AA261EAD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시계, 텍스트, 디지털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CCA8DD-3659-F09C-6FD8-F041A8E23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83" y="2814888"/>
            <a:ext cx="6971675" cy="18759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D410E751-8EFE-5942-2EE5-35CEFA98CBA4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패시브 스킬 </a:t>
            </a:r>
            <a:r>
              <a:rPr lang="en-US" altLang="ko-KR" sz="2000" dirty="0"/>
              <a:t>- </a:t>
            </a:r>
            <a:r>
              <a:rPr lang="ko-KR" altLang="en-US" sz="2000" dirty="0"/>
              <a:t>상세 설명 및 기획의도 </a:t>
            </a:r>
            <a:r>
              <a:rPr lang="en-US" altLang="ko-KR" sz="2000" dirty="0"/>
              <a:t>1</a:t>
            </a:r>
            <a:endParaRPr lang="en-US" altLang="ko-KR" sz="2400" dirty="0"/>
          </a:p>
        </p:txBody>
      </p:sp>
      <p:pic>
        <p:nvPicPr>
          <p:cNvPr id="7" name="그림 6" descr="어둠, 블랙, 달, 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9103ED-75AA-1361-F096-E3CA49DD76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83" y="1432958"/>
            <a:ext cx="6971675" cy="12386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A8DB4F2-68DD-77BA-BEA8-81BE26874F1E}"/>
              </a:ext>
            </a:extLst>
          </p:cNvPr>
          <p:cNvSpPr/>
          <p:nvPr/>
        </p:nvSpPr>
        <p:spPr>
          <a:xfrm>
            <a:off x="862983" y="1968813"/>
            <a:ext cx="5690217" cy="2854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E07659-EFBF-8BCF-4A69-E724A7EF8C7D}"/>
              </a:ext>
            </a:extLst>
          </p:cNvPr>
          <p:cNvSpPr/>
          <p:nvPr/>
        </p:nvSpPr>
        <p:spPr>
          <a:xfrm>
            <a:off x="862983" y="4196136"/>
            <a:ext cx="6833217" cy="4378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0B63EF-3985-2697-493E-6916CDED3EE4}"/>
              </a:ext>
            </a:extLst>
          </p:cNvPr>
          <p:cNvSpPr/>
          <p:nvPr/>
        </p:nvSpPr>
        <p:spPr>
          <a:xfrm>
            <a:off x="8003569" y="1402289"/>
            <a:ext cx="3376247" cy="12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원본 </a:t>
            </a:r>
            <a:r>
              <a:rPr lang="en-US" altLang="ko-KR" sz="1400" b="1" dirty="0">
                <a:solidFill>
                  <a:schemeClr val="tx1"/>
                </a:solidFill>
              </a:rPr>
              <a:t>E.G.O</a:t>
            </a:r>
            <a:r>
              <a:rPr lang="ko-KR" altLang="en-US" sz="1400" b="1" dirty="0">
                <a:solidFill>
                  <a:schemeClr val="tx1"/>
                </a:solidFill>
              </a:rPr>
              <a:t>가 보유한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속도에 차이에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따른 피해량 증가 효과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및 해당 효과를 보조하기 위한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속도 증가 효과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FBC09CB0-C1CB-D91D-091A-75D4525264C1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6553200" y="2036928"/>
            <a:ext cx="1450369" cy="74604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112A54-8DD9-8619-A254-2B4C76E119AB}"/>
              </a:ext>
            </a:extLst>
          </p:cNvPr>
          <p:cNvSpPr/>
          <p:nvPr/>
        </p:nvSpPr>
        <p:spPr>
          <a:xfrm>
            <a:off x="862983" y="2328083"/>
            <a:ext cx="4839317" cy="2854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A24FBEC8-1DE8-BDDB-178A-34B21B868801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>
          <a:xfrm flipV="1">
            <a:off x="5702300" y="2036928"/>
            <a:ext cx="2301269" cy="433874"/>
          </a:xfrm>
          <a:prstGeom prst="bentConnector3">
            <a:avLst>
              <a:gd name="adj1" fmla="val 68751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DB90CF7-F592-2A2A-A3FD-E9B9CF42A94F}"/>
              </a:ext>
            </a:extLst>
          </p:cNvPr>
          <p:cNvSpPr/>
          <p:nvPr/>
        </p:nvSpPr>
        <p:spPr>
          <a:xfrm>
            <a:off x="8003569" y="3410904"/>
            <a:ext cx="3376247" cy="6838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원본 </a:t>
            </a:r>
            <a:r>
              <a:rPr lang="en-US" altLang="ko-KR" sz="1400" b="1" dirty="0">
                <a:solidFill>
                  <a:schemeClr val="tx1"/>
                </a:solidFill>
              </a:rPr>
              <a:t>E.G.O</a:t>
            </a:r>
            <a:r>
              <a:rPr lang="ko-KR" altLang="en-US" sz="1400" b="1" dirty="0">
                <a:solidFill>
                  <a:schemeClr val="tx1"/>
                </a:solidFill>
              </a:rPr>
              <a:t>와 연동하여 성능을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증가 시키는 효과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1647578-5857-5DCA-88DF-4EEB20FAC327}"/>
              </a:ext>
            </a:extLst>
          </p:cNvPr>
          <p:cNvCxnSpPr>
            <a:cxnSpLocks/>
            <a:stCxn id="14" idx="0"/>
            <a:endCxn id="39" idx="1"/>
          </p:cNvCxnSpPr>
          <p:nvPr/>
        </p:nvCxnSpPr>
        <p:spPr>
          <a:xfrm rot="5400000" flipH="1" flipV="1">
            <a:off x="5919937" y="2112505"/>
            <a:ext cx="443286" cy="3723977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58168DC7-BA50-97C0-8425-36DB60390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340798"/>
              </p:ext>
            </p:extLst>
          </p:nvPr>
        </p:nvGraphicFramePr>
        <p:xfrm>
          <a:off x="2001677" y="4998322"/>
          <a:ext cx="8188643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8643">
                  <a:extLst>
                    <a:ext uri="{9D8B030D-6E8A-4147-A177-3AD203B41FA5}">
                      <a16:colId xmlns:a16="http://schemas.microsoft.com/office/drawing/2014/main" val="3203936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91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장비를 장비한 형태인 해당 캐릭터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인격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의 원본인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E.G.O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와 함께 사용했을 경우 서로의 단점을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보완하여 성능을 향상 시킬 수 있게 기획하였다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89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801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DE17-2D41-A64F-A7D2-759C8AA2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시계, 텍스트, 디지털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268386-BBC5-4D0E-5852-BAA26BB1CD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83" y="2814888"/>
            <a:ext cx="6971675" cy="18759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2F36103C-FE35-8677-108F-2861DBCB400F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패시브 스킬 </a:t>
            </a:r>
            <a:r>
              <a:rPr lang="en-US" altLang="ko-KR" sz="2000" dirty="0"/>
              <a:t>- </a:t>
            </a:r>
            <a:r>
              <a:rPr lang="ko-KR" altLang="en-US" sz="2000" dirty="0"/>
              <a:t>상세 설명 및 기획의도 </a:t>
            </a:r>
            <a:r>
              <a:rPr lang="en-US" altLang="ko-KR" sz="2000" dirty="0"/>
              <a:t>2</a:t>
            </a:r>
            <a:endParaRPr lang="en-US" altLang="ko-KR" sz="2400" dirty="0"/>
          </a:p>
        </p:txBody>
      </p:sp>
      <p:pic>
        <p:nvPicPr>
          <p:cNvPr id="7" name="그림 6" descr="어둠, 블랙, 달, 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4740DA-27EA-FF8E-D3CB-F159E7F83D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83" y="1432958"/>
            <a:ext cx="6971675" cy="12386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FEC790-F94E-38DC-414F-B9DFD86D113C}"/>
              </a:ext>
            </a:extLst>
          </p:cNvPr>
          <p:cNvSpPr/>
          <p:nvPr/>
        </p:nvSpPr>
        <p:spPr>
          <a:xfrm>
            <a:off x="862983" y="3088524"/>
            <a:ext cx="6763367" cy="2854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244C05-0644-B33C-C429-C419846F76CF}"/>
              </a:ext>
            </a:extLst>
          </p:cNvPr>
          <p:cNvSpPr/>
          <p:nvPr/>
        </p:nvSpPr>
        <p:spPr>
          <a:xfrm>
            <a:off x="862983" y="3467412"/>
            <a:ext cx="6833217" cy="4378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B48CD4-00F6-5551-21A8-EC15EB5121E4}"/>
              </a:ext>
            </a:extLst>
          </p:cNvPr>
          <p:cNvSpPr/>
          <p:nvPr/>
        </p:nvSpPr>
        <p:spPr>
          <a:xfrm>
            <a:off x="8003569" y="2031999"/>
            <a:ext cx="3376247" cy="6838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해당 인격의 고유 특징인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시곗바늘 시스템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DE247FC9-7952-E706-DA5B-E275C659A228}"/>
              </a:ext>
            </a:extLst>
          </p:cNvPr>
          <p:cNvCxnSpPr>
            <a:cxnSpLocks/>
            <a:stCxn id="12" idx="0"/>
            <a:endCxn id="2" idx="1"/>
          </p:cNvCxnSpPr>
          <p:nvPr/>
        </p:nvCxnSpPr>
        <p:spPr>
          <a:xfrm rot="5400000" flipH="1" flipV="1">
            <a:off x="5766829" y="851784"/>
            <a:ext cx="714579" cy="3758902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221503-78F4-5464-5602-2B8FF2FAB6B9}"/>
              </a:ext>
            </a:extLst>
          </p:cNvPr>
          <p:cNvSpPr/>
          <p:nvPr/>
        </p:nvSpPr>
        <p:spPr>
          <a:xfrm>
            <a:off x="8003569" y="3729147"/>
            <a:ext cx="3376247" cy="9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진동 유형이 변경되거나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진동이 소멸하는 상황을 방지하여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진동 키워드의 단점을 보완하는 효과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CF3ADCB-A23A-4D43-14F8-C13040EF7D68}"/>
              </a:ext>
            </a:extLst>
          </p:cNvPr>
          <p:cNvCxnSpPr>
            <a:cxnSpLocks/>
            <a:stCxn id="13" idx="2"/>
            <a:endCxn id="9" idx="1"/>
          </p:cNvCxnSpPr>
          <p:nvPr/>
        </p:nvCxnSpPr>
        <p:spPr>
          <a:xfrm rot="16200000" flipH="1">
            <a:off x="5989215" y="2195626"/>
            <a:ext cx="304730" cy="3723977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C7654E6-A3E6-2BBE-BA96-B56747595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71214"/>
              </p:ext>
            </p:extLst>
          </p:nvPr>
        </p:nvGraphicFramePr>
        <p:xfrm>
          <a:off x="2001677" y="4998322"/>
          <a:ext cx="8188643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8643">
                  <a:extLst>
                    <a:ext uri="{9D8B030D-6E8A-4147-A177-3AD203B41FA5}">
                      <a16:colId xmlns:a16="http://schemas.microsoft.com/office/drawing/2014/main" val="3203936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91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원하는 진동 유형을 유지하기 힘들다는 진동 키워드의 단점을 보완하기 위하여 소멸하는 진동 유형을 보존하여 사용할 수 있게 기획하였다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89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035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68EE3-369E-46BC-0F23-22634EA2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C61E1-1B07-269D-8FAF-517F8BF1EC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84" y="2040497"/>
            <a:ext cx="6971675" cy="8728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A6595059-7B3D-D8F3-BCCA-F51D589D7659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서포트 패시브 스킬 </a:t>
            </a:r>
            <a:r>
              <a:rPr lang="en-US" altLang="ko-KR" sz="2000" dirty="0"/>
              <a:t>– </a:t>
            </a:r>
            <a:r>
              <a:rPr lang="ko-KR" altLang="en-US" sz="2000" dirty="0"/>
              <a:t>상세 설명 및 기획의도</a:t>
            </a:r>
            <a:endParaRPr lang="en-US" altLang="ko-KR" sz="2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43FEA5-B4B4-7336-6BAF-76AA45F1E878}"/>
              </a:ext>
            </a:extLst>
          </p:cNvPr>
          <p:cNvSpPr/>
          <p:nvPr/>
        </p:nvSpPr>
        <p:spPr>
          <a:xfrm>
            <a:off x="862983" y="2587779"/>
            <a:ext cx="6462491" cy="28543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D5DAA9-A0B9-55BB-2D37-BFCFA8764683}"/>
              </a:ext>
            </a:extLst>
          </p:cNvPr>
          <p:cNvSpPr/>
          <p:nvPr/>
        </p:nvSpPr>
        <p:spPr>
          <a:xfrm>
            <a:off x="8003569" y="3955480"/>
            <a:ext cx="3376247" cy="6838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진동 키워드의 오랜 단점인 진동 횟수 관리를 돕는 효과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752E9299-45B9-9985-3B28-AF51899575E8}"/>
              </a:ext>
            </a:extLst>
          </p:cNvPr>
          <p:cNvCxnSpPr>
            <a:cxnSpLocks/>
            <a:stCxn id="12" idx="2"/>
            <a:endCxn id="2" idx="1"/>
          </p:cNvCxnSpPr>
          <p:nvPr/>
        </p:nvCxnSpPr>
        <p:spPr>
          <a:xfrm rot="16200000" flipH="1">
            <a:off x="5336795" y="1630651"/>
            <a:ext cx="1424209" cy="3909340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CE499BF-7845-F7B3-FD09-8B14DBE44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538834"/>
              </p:ext>
            </p:extLst>
          </p:nvPr>
        </p:nvGraphicFramePr>
        <p:xfrm>
          <a:off x="2001677" y="4998322"/>
          <a:ext cx="8188643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8643">
                  <a:extLst>
                    <a:ext uri="{9D8B030D-6E8A-4147-A177-3AD203B41FA5}">
                      <a16:colId xmlns:a16="http://schemas.microsoft.com/office/drawing/2014/main" val="3203936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91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진동 횟수를 유지하기 관리하기 힘들다는 진동 키워드의 고질적인 문제점을 보완하게 기획하였다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89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919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2280-7D99-F3F9-A615-6CA558F2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271CAE6-2A76-D6FD-9736-B5F21B108A01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1 </a:t>
            </a:r>
            <a:r>
              <a:rPr lang="en-US" altLang="ko-KR" sz="2400" dirty="0"/>
              <a:t>[</a:t>
            </a:r>
            <a:r>
              <a:rPr lang="ko-KR" altLang="en-US" sz="2400" dirty="0"/>
              <a:t>시침</a:t>
            </a:r>
            <a:r>
              <a:rPr lang="en-US" altLang="ko-KR" sz="2400" dirty="0"/>
              <a:t>] </a:t>
            </a:r>
            <a:r>
              <a:rPr lang="ko-KR" altLang="en-US" sz="2400" dirty="0"/>
              <a:t>도약 강타</a:t>
            </a:r>
            <a:endParaRPr lang="en-US" altLang="ko-KR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04729D-641B-A514-F98D-FFC810103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2848"/>
              </p:ext>
            </p:extLst>
          </p:nvPr>
        </p:nvGraphicFramePr>
        <p:xfrm>
          <a:off x="2408969" y="3814596"/>
          <a:ext cx="2145347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803592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none" dirty="0">
                          <a:solidFill>
                            <a:schemeClr val="tx1"/>
                          </a:solidFill>
                        </a:rPr>
                        <a:t>참격</a:t>
                      </a:r>
                      <a:endParaRPr lang="en-US" altLang="ko-KR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 색욕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×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숫자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+4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(2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8CC3C92-7E62-643C-AC1F-DE7999A00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529311"/>
              </p:ext>
            </p:extLst>
          </p:nvPr>
        </p:nvGraphicFramePr>
        <p:xfrm>
          <a:off x="4724117" y="4165116"/>
          <a:ext cx="529621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6218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활성화 상태일 경우 기본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+2</a:t>
                      </a: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비활성화 상태일 경우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활성화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당 코인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+ 1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2)</a:t>
                      </a: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 횟수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활성화 상태일 경우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 폭발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발동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406B1C2F-E7E5-F1F5-DB88-3DCEE667C6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576" y="4197972"/>
            <a:ext cx="144826" cy="239131"/>
          </a:xfrm>
          <a:prstGeom prst="rect">
            <a:avLst/>
          </a:prstGeom>
        </p:spPr>
      </p:pic>
      <p:pic>
        <p:nvPicPr>
          <p:cNvPr id="7" name="그림 6" descr="스케치, 그림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A9C873-7DE1-4492-0607-4A9E5167EA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25" y="1286223"/>
            <a:ext cx="7581149" cy="24666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3553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F5511-5CA4-BB64-7201-AF0F899E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D46BC10-03F5-DC17-0570-A2DF5C9A8D2D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1 </a:t>
            </a:r>
            <a:r>
              <a:rPr lang="en-US" altLang="ko-KR" sz="2400" dirty="0"/>
              <a:t>[</a:t>
            </a:r>
            <a:r>
              <a:rPr lang="ko-KR" altLang="en-US" sz="2400" dirty="0"/>
              <a:t>시침</a:t>
            </a:r>
            <a:r>
              <a:rPr lang="en-US" altLang="ko-KR" sz="2400" dirty="0"/>
              <a:t>] </a:t>
            </a:r>
            <a:r>
              <a:rPr lang="ko-KR" altLang="en-US" sz="2400" dirty="0"/>
              <a:t>도약 강타 </a:t>
            </a:r>
            <a:r>
              <a:rPr lang="en-US" altLang="ko-KR" sz="2000" dirty="0"/>
              <a:t>- </a:t>
            </a:r>
            <a:r>
              <a:rPr lang="ko-KR" altLang="en-US" sz="2000" dirty="0"/>
              <a:t>동작 상세 설명 및 기획의도</a:t>
            </a:r>
            <a:endParaRPr lang="en-US" altLang="ko-KR" sz="24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F102BE0-14CE-AE90-0EDF-CC28F82A6D81}"/>
              </a:ext>
            </a:extLst>
          </p:cNvPr>
          <p:cNvGrpSpPr/>
          <p:nvPr/>
        </p:nvGrpSpPr>
        <p:grpSpPr>
          <a:xfrm>
            <a:off x="864800" y="1380536"/>
            <a:ext cx="4672975" cy="2368085"/>
            <a:chOff x="1090830" y="1380536"/>
            <a:chExt cx="4672975" cy="236808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421C3D5-43C7-5D61-60CF-D9415EBD4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30" y="1380536"/>
              <a:ext cx="4672975" cy="190475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5D5BE5-0105-9C6B-5AB8-18AFEF318986}"/>
                </a:ext>
              </a:extLst>
            </p:cNvPr>
            <p:cNvSpPr txBox="1"/>
            <p:nvPr/>
          </p:nvSpPr>
          <p:spPr>
            <a:xfrm>
              <a:off x="1090831" y="3286956"/>
              <a:ext cx="467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오른손으로 시침을 들고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전진하며 왼쪽에서 오른쪽으로 회전 수평 베기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B3E0682-54BD-9B54-412B-B84EA7EE3DC2}"/>
              </a:ext>
            </a:extLst>
          </p:cNvPr>
          <p:cNvGrpSpPr/>
          <p:nvPr/>
        </p:nvGrpSpPr>
        <p:grpSpPr>
          <a:xfrm>
            <a:off x="6654224" y="1386430"/>
            <a:ext cx="4672975" cy="2366420"/>
            <a:chOff x="1090831" y="3834355"/>
            <a:chExt cx="4672975" cy="2366420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633ABAE2-7E08-D744-84FD-87689AB45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32" y="3834355"/>
              <a:ext cx="4672974" cy="190475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944768-F473-213C-927D-D078827D269D}"/>
                </a:ext>
              </a:extLst>
            </p:cNvPr>
            <p:cNvSpPr txBox="1"/>
            <p:nvPr/>
          </p:nvSpPr>
          <p:spPr>
            <a:xfrm>
              <a:off x="1090831" y="5739110"/>
              <a:ext cx="467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이전 동작을 이어서 우측으로 회전하며 도약 후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좌측 상단에서 우측 하단으로 내려치며 적을 강타</a:t>
              </a:r>
            </a:p>
          </p:txBody>
        </p:sp>
      </p:grp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F2D7DA68-7F62-173B-1896-55BBF76A7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20581"/>
              </p:ext>
            </p:extLst>
          </p:nvPr>
        </p:nvGraphicFramePr>
        <p:xfrm>
          <a:off x="1779428" y="4539988"/>
          <a:ext cx="8633143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3143">
                  <a:extLst>
                    <a:ext uri="{9D8B030D-6E8A-4147-A177-3AD203B41FA5}">
                      <a16:colId xmlns:a16="http://schemas.microsoft.com/office/drawing/2014/main" val="3203936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91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가장 약한 스킬이지만 캐릭터의 운영 방식상 필수적으로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사용해야 하기 때문에 조건 달성 시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해당 시곗바늘 활성화 상태 및 대상의 진동 횟수가 일정량 이상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나쁘지 않은 합 고점을 가지고 진동 폭발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키워드를 추가하여 해당 스킬을 지속적으로 활용할 수 있게 기획하였다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89051"/>
                  </a:ext>
                </a:extLst>
              </a:tr>
            </a:tbl>
          </a:graphicData>
        </a:graphic>
      </p:graphicFrame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EAD36F5-61A6-3652-6069-997585211FF4}"/>
              </a:ext>
            </a:extLst>
          </p:cNvPr>
          <p:cNvCxnSpPr>
            <a:cxnSpLocks/>
          </p:cNvCxnSpPr>
          <p:nvPr/>
        </p:nvCxnSpPr>
        <p:spPr>
          <a:xfrm>
            <a:off x="5574000" y="2332914"/>
            <a:ext cx="10440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220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B50A-9DE2-FA87-1025-128081619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DD63931-9BC8-F6A3-B8A1-249FBFF25EF0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2 </a:t>
            </a:r>
            <a:r>
              <a:rPr lang="en-US" altLang="ko-KR" sz="2400" dirty="0"/>
              <a:t>[</a:t>
            </a:r>
            <a:r>
              <a:rPr lang="ko-KR" altLang="en-US" sz="2400" dirty="0"/>
              <a:t>분침</a:t>
            </a:r>
            <a:r>
              <a:rPr lang="en-US" altLang="ko-KR" sz="2400" dirty="0"/>
              <a:t>] </a:t>
            </a:r>
            <a:r>
              <a:rPr lang="ko-KR" altLang="en-US" sz="2400" dirty="0"/>
              <a:t>연속 참격</a:t>
            </a:r>
            <a:endParaRPr lang="en-US" altLang="ko-KR" sz="2400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403FDB3-218C-0E73-A24A-8C206F6FA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950429"/>
              </p:ext>
            </p:extLst>
          </p:nvPr>
        </p:nvGraphicFramePr>
        <p:xfrm>
          <a:off x="4267862" y="4189189"/>
          <a:ext cx="664083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830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활성화 상태일 경우 기본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+2</a:t>
                      </a: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비활성화 상태일 경우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활성화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당 코인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+ 1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3)</a:t>
                      </a: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 횟수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활성화 상태일 경우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다음 턴 대상의 속도 최댓값 절반으로 감소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9A124A-FD1C-F1CB-5F18-91269C26B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554577"/>
              </p:ext>
            </p:extLst>
          </p:nvPr>
        </p:nvGraphicFramePr>
        <p:xfrm>
          <a:off x="1681644" y="3814596"/>
          <a:ext cx="2145347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803592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none" dirty="0">
                          <a:solidFill>
                            <a:schemeClr val="tx1"/>
                          </a:solidFill>
                        </a:rPr>
                        <a:t>참격</a:t>
                      </a:r>
                      <a:endParaRPr lang="en-US" altLang="ko-KR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 오만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×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숫자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+6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(2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pic>
        <p:nvPicPr>
          <p:cNvPr id="16" name="그림 15" descr="상징, 로고, 그래픽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92ECA6-59F8-2543-4616-5C782FF936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634" y="4197972"/>
            <a:ext cx="187146" cy="239131"/>
          </a:xfrm>
          <a:prstGeom prst="rect">
            <a:avLst/>
          </a:prstGeom>
        </p:spPr>
      </p:pic>
      <p:pic>
        <p:nvPicPr>
          <p:cNvPr id="3" name="그림 2" descr="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3BCAB9-E4DB-06FF-1EC9-CE839E489A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300" y="1501308"/>
            <a:ext cx="9075399" cy="21097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6262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8216-F9FC-F92C-3988-4E03B58F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937D7C0-1D79-770C-9C23-B275CCF569D5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2 </a:t>
            </a:r>
            <a:r>
              <a:rPr lang="en-US" altLang="ko-KR" sz="2400" dirty="0"/>
              <a:t>[</a:t>
            </a:r>
            <a:r>
              <a:rPr lang="ko-KR" altLang="en-US" sz="2400" dirty="0"/>
              <a:t>분침</a:t>
            </a:r>
            <a:r>
              <a:rPr lang="en-US" altLang="ko-KR" sz="2400" dirty="0"/>
              <a:t>] </a:t>
            </a:r>
            <a:r>
              <a:rPr lang="ko-KR" altLang="en-US" sz="2400" dirty="0"/>
              <a:t>연속 참격</a:t>
            </a:r>
            <a:endParaRPr lang="en-US" altLang="ko-KR" sz="32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EDD1BBC-7869-0002-6153-08D9A74669FA}"/>
              </a:ext>
            </a:extLst>
          </p:cNvPr>
          <p:cNvGrpSpPr/>
          <p:nvPr/>
        </p:nvGrpSpPr>
        <p:grpSpPr>
          <a:xfrm>
            <a:off x="864795" y="1370558"/>
            <a:ext cx="4672978" cy="2380308"/>
            <a:chOff x="1090826" y="1370558"/>
            <a:chExt cx="4672978" cy="2380308"/>
          </a:xfrm>
        </p:grpSpPr>
        <p:pic>
          <p:nvPicPr>
            <p:cNvPr id="17" name="그림 16" descr="자전거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305FF13-7C8A-BF38-6360-DF9019C09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26" y="1370558"/>
              <a:ext cx="4672973" cy="1904755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2BF193-8052-D82C-22A1-839B1ECE78A1}"/>
                </a:ext>
              </a:extLst>
            </p:cNvPr>
            <p:cNvSpPr txBox="1"/>
            <p:nvPr/>
          </p:nvSpPr>
          <p:spPr>
            <a:xfrm>
              <a:off x="1090831" y="3289201"/>
              <a:ext cx="467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오른손으로 분침을 들고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전진하며 왼쪽에서 오른쪽으로 가볍게 수평 베기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B3321FB-1432-2E24-9EE0-B5DCB507898F}"/>
              </a:ext>
            </a:extLst>
          </p:cNvPr>
          <p:cNvGrpSpPr/>
          <p:nvPr/>
        </p:nvGrpSpPr>
        <p:grpSpPr>
          <a:xfrm>
            <a:off x="6654223" y="1370558"/>
            <a:ext cx="4672977" cy="2366420"/>
            <a:chOff x="1090827" y="3750866"/>
            <a:chExt cx="4672977" cy="2366420"/>
          </a:xfrm>
        </p:grpSpPr>
        <p:pic>
          <p:nvPicPr>
            <p:cNvPr id="16" name="그림 15" descr="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64C5952-016D-1F18-2ED6-8EAC34B1F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27" y="3750866"/>
              <a:ext cx="4672973" cy="1904755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9395AF-4B7C-5994-557F-ACCEF973B2FF}"/>
                </a:ext>
              </a:extLst>
            </p:cNvPr>
            <p:cNvSpPr txBox="1"/>
            <p:nvPr/>
          </p:nvSpPr>
          <p:spPr>
            <a:xfrm>
              <a:off x="1090831" y="5655621"/>
              <a:ext cx="4672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자세를 낮추며 분침을 들고 자세를 잡은 후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전진하며 왼쪽에서 오른쪽으로 깊고 크게 수평 베기</a:t>
              </a:r>
            </a:p>
          </p:txBody>
        </p:sp>
      </p:grp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5F6F52E-8B04-3B34-6BDF-B2CE9D657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799855"/>
              </p:ext>
            </p:extLst>
          </p:nvPr>
        </p:nvGraphicFramePr>
        <p:xfrm>
          <a:off x="1544477" y="4539988"/>
          <a:ext cx="910304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043">
                  <a:extLst>
                    <a:ext uri="{9D8B030D-6E8A-4147-A177-3AD203B41FA5}">
                      <a16:colId xmlns:a16="http://schemas.microsoft.com/office/drawing/2014/main" val="3203936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91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가장 주력이 되는 스킬로 기본적으로 나쁘지 않은 합 위력을 가지고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스킬 보다 높은 진동 횟수를 가지게 하여 캐릭터 운영 시 제일 무난한 첫 스킬로 사용할 수 있게 하고 조건 달성 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해당 시곗바늘 활성화 상태 및 대상의진동 횟수가 일정량 이상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높은 위력을 가지게 하고 대상의 속도 최댓값을 감소 시켜 패시브 스킬을 적극적으로 활용할 수 있게 기획하였다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89051"/>
                  </a:ext>
                </a:extLst>
              </a:tr>
            </a:tbl>
          </a:graphicData>
        </a:graphic>
      </p:graphicFrame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084DFC76-7C5B-6E4A-D414-859CD8182ABA}"/>
              </a:ext>
            </a:extLst>
          </p:cNvPr>
          <p:cNvCxnSpPr>
            <a:cxnSpLocks/>
          </p:cNvCxnSpPr>
          <p:nvPr/>
        </p:nvCxnSpPr>
        <p:spPr>
          <a:xfrm>
            <a:off x="5574000" y="2332914"/>
            <a:ext cx="10440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743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1659F-1013-EDCC-2F65-B2EE188A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E14C557-66A6-B296-FBC8-881035BB03CB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3</a:t>
            </a:r>
            <a:r>
              <a:rPr lang="en-US" altLang="ko-KR" sz="2400" dirty="0"/>
              <a:t>-1</a:t>
            </a:r>
            <a:r>
              <a:rPr lang="en-US" altLang="ko-KR" sz="3200" dirty="0"/>
              <a:t> </a:t>
            </a:r>
            <a:r>
              <a:rPr lang="en-US" altLang="ko-KR" sz="2400" dirty="0"/>
              <a:t>[</a:t>
            </a:r>
            <a:r>
              <a:rPr lang="ko-KR" altLang="en-US" sz="2400" dirty="0"/>
              <a:t>초침</a:t>
            </a:r>
            <a:r>
              <a:rPr lang="en-US" altLang="ko-KR" sz="2400" dirty="0"/>
              <a:t>] </a:t>
            </a:r>
            <a:r>
              <a:rPr lang="ko-KR" altLang="en-US" sz="2400" dirty="0"/>
              <a:t>베어 꿰뚫기</a:t>
            </a:r>
            <a:endParaRPr lang="en-US" altLang="ko-KR" sz="2400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D7618F7-EAC6-D371-4F42-E9EFB207A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708378"/>
              </p:ext>
            </p:extLst>
          </p:nvPr>
        </p:nvGraphicFramePr>
        <p:xfrm>
          <a:off x="4494526" y="3977333"/>
          <a:ext cx="55454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4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활성화 상태일 경우 기본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+2</a:t>
                      </a: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비활성화 상태일 경우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활성화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당 코인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+ 1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4)</a:t>
                      </a: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 횟수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마비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 폭발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발동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활성화 상태일 경우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으로 진폭 얽힘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0B0BB9C-E2E0-024A-87E9-B35F4BDAC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069334"/>
              </p:ext>
            </p:extLst>
          </p:nvPr>
        </p:nvGraphicFramePr>
        <p:xfrm>
          <a:off x="2252440" y="3814596"/>
          <a:ext cx="2145347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803592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none" dirty="0">
                          <a:solidFill>
                            <a:schemeClr val="tx1"/>
                          </a:solidFill>
                        </a:rPr>
                        <a:t>관통</a:t>
                      </a:r>
                      <a:endParaRPr lang="en-US" altLang="ko-KR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 나태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×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숫자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+5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pic>
        <p:nvPicPr>
          <p:cNvPr id="18" name="그림 17" descr="노랑, 육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6C8406-BA67-F482-5145-3B5A90BC83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183" y="4232898"/>
            <a:ext cx="195285" cy="165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6B3C7F2-0750-2279-59DE-A94B04FE9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97" y="1478220"/>
            <a:ext cx="10591804" cy="19316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0684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0E7B-86AE-65AA-AEC1-B605325D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56BAB85-7FC9-10D9-4761-ED68F607919F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3</a:t>
            </a:r>
            <a:r>
              <a:rPr lang="en-US" altLang="ko-KR" sz="2400" dirty="0"/>
              <a:t>-1</a:t>
            </a:r>
            <a:r>
              <a:rPr lang="en-US" altLang="ko-KR" sz="3200" dirty="0"/>
              <a:t> </a:t>
            </a:r>
            <a:r>
              <a:rPr lang="en-US" altLang="ko-KR" sz="2400" dirty="0"/>
              <a:t>[</a:t>
            </a:r>
            <a:r>
              <a:rPr lang="ko-KR" altLang="en-US" sz="2400" dirty="0"/>
              <a:t>초침</a:t>
            </a:r>
            <a:r>
              <a:rPr lang="en-US" altLang="ko-KR" sz="2400" dirty="0"/>
              <a:t>] </a:t>
            </a:r>
            <a:r>
              <a:rPr lang="ko-KR" altLang="en-US" sz="2400" dirty="0"/>
              <a:t>베어 꿰뚫기</a:t>
            </a:r>
            <a:endParaRPr lang="en-US" altLang="ko-KR" sz="2400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3765D8B-364E-20B3-EF30-491229BF0CD1}"/>
              </a:ext>
            </a:extLst>
          </p:cNvPr>
          <p:cNvGrpSpPr/>
          <p:nvPr/>
        </p:nvGrpSpPr>
        <p:grpSpPr>
          <a:xfrm>
            <a:off x="864807" y="3466963"/>
            <a:ext cx="4672967" cy="2616216"/>
            <a:chOff x="6357163" y="1477632"/>
            <a:chExt cx="4672967" cy="261621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AF231E-0CC2-C417-FD27-94AA5601E40B}"/>
                </a:ext>
              </a:extLst>
            </p:cNvPr>
            <p:cNvSpPr txBox="1"/>
            <p:nvPr/>
          </p:nvSpPr>
          <p:spPr>
            <a:xfrm>
              <a:off x="6357163" y="3816849"/>
              <a:ext cx="4672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적의 등뒤로 도약한 다음 적에게 창을 투척하여 관통</a:t>
              </a:r>
            </a:p>
          </p:txBody>
        </p:sp>
        <p:pic>
          <p:nvPicPr>
            <p:cNvPr id="30" name="그림 29" descr="만화 영화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BA54C16-F6FB-B2F8-60DD-6D8C092A7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030"/>
            <a:stretch>
              <a:fillRect/>
            </a:stretch>
          </p:blipFill>
          <p:spPr>
            <a:xfrm>
              <a:off x="6357164" y="1477632"/>
              <a:ext cx="4672966" cy="2339217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</p:grp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17FE6225-19E2-7FE3-72B0-72E90AC79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661005"/>
              </p:ext>
            </p:extLst>
          </p:nvPr>
        </p:nvGraphicFramePr>
        <p:xfrm>
          <a:off x="6200386" y="4162939"/>
          <a:ext cx="5126804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6804">
                  <a:extLst>
                    <a:ext uri="{9D8B030D-6E8A-4147-A177-3AD203B41FA5}">
                      <a16:colId xmlns:a16="http://schemas.microsoft.com/office/drawing/2014/main" val="3203936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91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통상적으로 사용할 수 있는 가장 강력한 스킬로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스킬과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스킬의 시곗바늘 활성화 시 추가 효과와 비슷한 효과를 동시에 보유하고 높은 기본 위력과 조건 달성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해당 시곗바늘 활성화 상태 및 대상의 진동 횟수가 일정량 이상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매우 높은 위력과 원본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E.G.O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의 특징인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진동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진폭 얽힘으로 부여하게 하여 패시브 스킬과 연계할 수 있게 기획하였다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89051"/>
                  </a:ext>
                </a:extLst>
              </a:tr>
            </a:tbl>
          </a:graphicData>
        </a:graphic>
      </p:graphicFrame>
      <p:grpSp>
        <p:nvGrpSpPr>
          <p:cNvPr id="35" name="그룹 34">
            <a:extLst>
              <a:ext uri="{FF2B5EF4-FFF2-40B4-BE49-F238E27FC236}">
                <a16:creationId xmlns:a16="http://schemas.microsoft.com/office/drawing/2014/main" id="{CD335053-63C6-967F-94D8-5E31F665BB63}"/>
              </a:ext>
            </a:extLst>
          </p:cNvPr>
          <p:cNvGrpSpPr/>
          <p:nvPr/>
        </p:nvGrpSpPr>
        <p:grpSpPr>
          <a:xfrm>
            <a:off x="864804" y="1356671"/>
            <a:ext cx="4672969" cy="2046620"/>
            <a:chOff x="1090827" y="1382380"/>
            <a:chExt cx="4672969" cy="204662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AE5A225-07AA-E2F7-E8FB-A9EC2EEA162C}"/>
                </a:ext>
              </a:extLst>
            </p:cNvPr>
            <p:cNvSpPr txBox="1"/>
            <p:nvPr/>
          </p:nvSpPr>
          <p:spPr>
            <a:xfrm>
              <a:off x="1090827" y="3152001"/>
              <a:ext cx="4672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오른손으로 초침을 들고 돌격하여 적을 관통하며 공격</a:t>
              </a:r>
            </a:p>
          </p:txBody>
        </p:sp>
        <p:pic>
          <p:nvPicPr>
            <p:cNvPr id="37" name="그림 36" descr="만화 영화, 디자인, 일러스트레이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C5F23AE-0792-47DC-0240-58AE9D9B6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779"/>
            <a:stretch>
              <a:fillRect/>
            </a:stretch>
          </p:blipFill>
          <p:spPr>
            <a:xfrm>
              <a:off x="1090830" y="1382380"/>
              <a:ext cx="4672966" cy="1769621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365CA73-B4B7-B431-798A-E6A54249B5BF}"/>
              </a:ext>
            </a:extLst>
          </p:cNvPr>
          <p:cNvGrpSpPr/>
          <p:nvPr/>
        </p:nvGrpSpPr>
        <p:grpSpPr>
          <a:xfrm>
            <a:off x="6654223" y="1356670"/>
            <a:ext cx="4672970" cy="2046621"/>
            <a:chOff x="6439357" y="1382379"/>
            <a:chExt cx="4672970" cy="204662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A78DD1-E47D-4292-F37F-82321F5DC670}"/>
                </a:ext>
              </a:extLst>
            </p:cNvPr>
            <p:cNvSpPr txBox="1"/>
            <p:nvPr/>
          </p:nvSpPr>
          <p:spPr>
            <a:xfrm>
              <a:off x="6439357" y="3152001"/>
              <a:ext cx="46729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적을 관통한 창을 수평으로 휘둘러 적을 멀리 떨어트림</a:t>
              </a:r>
            </a:p>
          </p:txBody>
        </p:sp>
        <p:pic>
          <p:nvPicPr>
            <p:cNvPr id="40" name="그림 39" descr="만화 영화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D9FD23E-1339-C06A-3B48-4CC2B69A0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779"/>
            <a:stretch>
              <a:fillRect/>
            </a:stretch>
          </p:blipFill>
          <p:spPr>
            <a:xfrm>
              <a:off x="6439359" y="1382379"/>
              <a:ext cx="4672968" cy="176962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</p:grp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A62D28A9-48DF-B5FC-E6ED-7B4F15E8A7A5}"/>
              </a:ext>
            </a:extLst>
          </p:cNvPr>
          <p:cNvCxnSpPr>
            <a:cxnSpLocks/>
          </p:cNvCxnSpPr>
          <p:nvPr/>
        </p:nvCxnSpPr>
        <p:spPr>
          <a:xfrm>
            <a:off x="5574000" y="2332914"/>
            <a:ext cx="10440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F87D7EBB-D773-B3E2-11BC-DFBFF6A06287}"/>
              </a:ext>
            </a:extLst>
          </p:cNvPr>
          <p:cNvCxnSpPr>
            <a:cxnSpLocks/>
          </p:cNvCxnSpPr>
          <p:nvPr/>
        </p:nvCxnSpPr>
        <p:spPr>
          <a:xfrm rot="8100000">
            <a:off x="5574000" y="3633901"/>
            <a:ext cx="10440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910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45D9-DED7-DA91-C0B2-1FC40354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C4C5B55-5F99-546D-3CAD-A9629EFE5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058791"/>
              </p:ext>
            </p:extLst>
          </p:nvPr>
        </p:nvGraphicFramePr>
        <p:xfrm>
          <a:off x="4859715" y="2669241"/>
          <a:ext cx="5928043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8043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방어 스킬로 변환 불가 및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턴 후 해당 스킬 소멸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전투 시작 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기록된 진동 유형의 종류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개당 가중치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당 코인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+ 1 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종료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기록된 진동 유형 초기화 및 비활성화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진동 횟수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으로 진폭 얽힘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기록된 진동 유형으로 진폭 변환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 폭발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발동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진동 횟수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감소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기록된 진동 유형으로 진폭 변환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 폭발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발동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진동 횟수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감소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기록된 진동 유형으로 진폭 변환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 폭발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발동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진동 횟수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감소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200" b="1" dirty="0">
                          <a:solidFill>
                            <a:srgbClr val="C00000"/>
                          </a:solidFill>
                        </a:rPr>
                        <a:t>파괴 불가 코인</a:t>
                      </a:r>
                      <a:endParaRPr lang="en-US" altLang="ko-KR" sz="1200" b="1" dirty="0">
                        <a:solidFill>
                          <a:srgbClr val="C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  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 폭발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발동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진동 횟수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감소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F41A115E-3D30-DEB7-C0E7-039630C8F5BC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3</a:t>
            </a:r>
            <a:r>
              <a:rPr lang="en-US" altLang="ko-KR" sz="2400" dirty="0"/>
              <a:t>-2</a:t>
            </a:r>
            <a:r>
              <a:rPr lang="en-US" altLang="ko-KR" sz="3200" dirty="0"/>
              <a:t> </a:t>
            </a:r>
            <a:r>
              <a:rPr lang="en-US" altLang="ko-KR" sz="2400" dirty="0"/>
              <a:t>[</a:t>
            </a:r>
            <a:r>
              <a:rPr lang="ko-KR" altLang="en-US" sz="2400" dirty="0"/>
              <a:t>영속</a:t>
            </a:r>
            <a:r>
              <a:rPr lang="en-US" altLang="ko-KR" sz="2400" dirty="0"/>
              <a:t>]-</a:t>
            </a:r>
            <a:r>
              <a:rPr lang="ko-KR" altLang="en-US" sz="2400" dirty="0"/>
              <a:t>정지된 시간</a:t>
            </a:r>
            <a:endParaRPr lang="en-US" altLang="ko-KR" sz="2400" dirty="0"/>
          </a:p>
        </p:txBody>
      </p:sp>
      <p:pic>
        <p:nvPicPr>
          <p:cNvPr id="22" name="그림 21" descr="노랑, 육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77A266-05F7-FD11-06B3-3ABABB586C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907" y="3725430"/>
            <a:ext cx="195285" cy="16545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82E2E91-FE19-6E58-12C1-DB8B6BB83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841737"/>
              </p:ext>
            </p:extLst>
          </p:nvPr>
        </p:nvGraphicFramePr>
        <p:xfrm>
          <a:off x="1994204" y="3320447"/>
          <a:ext cx="248031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none" dirty="0">
                          <a:solidFill>
                            <a:schemeClr val="tx1"/>
                          </a:solidFill>
                        </a:rPr>
                        <a:t>관통</a:t>
                      </a:r>
                      <a:endParaRPr lang="en-US" altLang="ko-KR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 나태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개별 생성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숫자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+5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(4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1(+2)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pic>
        <p:nvPicPr>
          <p:cNvPr id="5" name="그림 4" descr="스케치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4AC4A0-3860-5890-5B3B-08650E62FF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1282033"/>
            <a:ext cx="10591800" cy="13768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2735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DB93-29F4-EF2B-A3BD-3AA43F45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557B0F7-51C4-DB4F-D113-E6DFC46A6051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스킬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-2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영속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]-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정지된 시간 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43FB9B0-B816-5579-0DA1-021248A75B37}"/>
              </a:ext>
            </a:extLst>
          </p:cNvPr>
          <p:cNvGrpSpPr/>
          <p:nvPr/>
        </p:nvGrpSpPr>
        <p:grpSpPr>
          <a:xfrm>
            <a:off x="795789" y="1406709"/>
            <a:ext cx="3073917" cy="1899293"/>
            <a:chOff x="813755" y="1406709"/>
            <a:chExt cx="3073917" cy="1899293"/>
          </a:xfrm>
        </p:grpSpPr>
        <p:pic>
          <p:nvPicPr>
            <p:cNvPr id="6" name="그림 5" descr="원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823DA64-388C-A93D-4621-0329BE54F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755" y="1406709"/>
              <a:ext cx="3073917" cy="1252962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7E95E1-7DBE-6436-7347-D50992BD9A0F}"/>
                </a:ext>
              </a:extLst>
            </p:cNvPr>
            <p:cNvSpPr txBox="1"/>
            <p:nvPr/>
          </p:nvSpPr>
          <p:spPr>
            <a:xfrm>
              <a:off x="813755" y="2659671"/>
              <a:ext cx="30739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오른손에 시침을 들고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사선으로 회전하며 수평 베기 후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해당 위치에 시침을 배치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3C1DB5C-3E38-6F84-BAEB-6468DFB2FFA9}"/>
              </a:ext>
            </a:extLst>
          </p:cNvPr>
          <p:cNvGrpSpPr/>
          <p:nvPr/>
        </p:nvGrpSpPr>
        <p:grpSpPr>
          <a:xfrm>
            <a:off x="4559040" y="1406710"/>
            <a:ext cx="3073918" cy="1899294"/>
            <a:chOff x="4516156" y="1406710"/>
            <a:chExt cx="3073918" cy="189929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18A8065-59E7-9C49-C5DD-3E233E218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6156" y="1406710"/>
              <a:ext cx="3073917" cy="1252963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D5DFC9-5B7C-A390-A647-B7EEC2DCF08B}"/>
                </a:ext>
              </a:extLst>
            </p:cNvPr>
            <p:cNvSpPr txBox="1"/>
            <p:nvPr/>
          </p:nvSpPr>
          <p:spPr>
            <a:xfrm>
              <a:off x="4516156" y="2659673"/>
              <a:ext cx="30739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기존 자리에 시침을 두고 분침으로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사선으로 이동하며 사선으로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올려 베기 후 해당 위치에 분침을 배치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184CAA0-0410-0808-57D2-D09E8B79EA36}"/>
              </a:ext>
            </a:extLst>
          </p:cNvPr>
          <p:cNvGrpSpPr/>
          <p:nvPr/>
        </p:nvGrpSpPr>
        <p:grpSpPr>
          <a:xfrm>
            <a:off x="8322294" y="1406709"/>
            <a:ext cx="3073917" cy="1906339"/>
            <a:chOff x="8182104" y="1406709"/>
            <a:chExt cx="3073917" cy="1906339"/>
          </a:xfrm>
        </p:grpSpPr>
        <p:pic>
          <p:nvPicPr>
            <p:cNvPr id="10" name="그림 9" descr="원, 보석 머리장식, 왕관 보석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53D4C27-7D76-00A3-728D-D2C54A918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2104" y="1406709"/>
              <a:ext cx="3073917" cy="1252962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04E6D10-DD85-BBE8-598D-B386682CB316}"/>
                </a:ext>
              </a:extLst>
            </p:cNvPr>
            <p:cNvSpPr txBox="1"/>
            <p:nvPr/>
          </p:nvSpPr>
          <p:spPr>
            <a:xfrm>
              <a:off x="8182104" y="2666717"/>
              <a:ext cx="30739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기존 자리에 분침을 두고 초침을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사선 방향으로 이동하며 적을 관통하고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해당 위치에 초침을 배치</a:t>
              </a:r>
            </a:p>
          </p:txBody>
        </p:sp>
      </p:grpSp>
      <p:pic>
        <p:nvPicPr>
          <p:cNvPr id="3" name="그림 2" descr="시계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995F5D-9E0E-C0BA-22F3-711D7B6598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65" y="3912633"/>
            <a:ext cx="3073917" cy="125296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7E1E2A-57C8-E8F9-3E34-31294609885F}"/>
              </a:ext>
            </a:extLst>
          </p:cNvPr>
          <p:cNvSpPr txBox="1"/>
          <p:nvPr/>
        </p:nvSpPr>
        <p:spPr>
          <a:xfrm>
            <a:off x="830265" y="5172640"/>
            <a:ext cx="3073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배치한 무기들이 동시에 적 방향으로</a:t>
            </a:r>
            <a:endParaRPr lang="en-US" altLang="ko-KR" sz="1200" dirty="0"/>
          </a:p>
          <a:p>
            <a:pPr algn="ctr"/>
            <a:r>
              <a:rPr lang="ko-KR" altLang="en-US" sz="1200" dirty="0"/>
              <a:t> 회전하고 캐릭터가 동작을 바꿈과</a:t>
            </a:r>
            <a:endParaRPr lang="en-US" altLang="ko-KR" sz="1200" dirty="0"/>
          </a:p>
          <a:p>
            <a:pPr algn="ctr"/>
            <a:r>
              <a:rPr lang="ko-KR" altLang="en-US" sz="1200" dirty="0"/>
              <a:t>동시에 일제히 날아가 적을 관통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A848D417-C574-D349-8D43-D90A463D8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326697"/>
              </p:ext>
            </p:extLst>
          </p:nvPr>
        </p:nvGraphicFramePr>
        <p:xfrm>
          <a:off x="4444987" y="4962295"/>
          <a:ext cx="681103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1034">
                  <a:extLst>
                    <a:ext uri="{9D8B030D-6E8A-4147-A177-3AD203B41FA5}">
                      <a16:colId xmlns:a16="http://schemas.microsoft.com/office/drawing/2014/main" val="3203936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91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복잡하고 어려운 조건을 가진 만큼 높은 합 고점과 다양한 효과를 보유하게 하여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원본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E.G.O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스킬과 비슷한 구성을 가지게 기획하였다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89051"/>
                  </a:ext>
                </a:extLst>
              </a:tr>
            </a:tbl>
          </a:graphicData>
        </a:graphic>
      </p:graphicFrame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B518C52A-C23C-F3F7-287E-C1067EBE2807}"/>
              </a:ext>
            </a:extLst>
          </p:cNvPr>
          <p:cNvCxnSpPr>
            <a:cxnSpLocks/>
          </p:cNvCxnSpPr>
          <p:nvPr/>
        </p:nvCxnSpPr>
        <p:spPr>
          <a:xfrm>
            <a:off x="3904183" y="2033190"/>
            <a:ext cx="616569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B3E5B78-3C43-84DB-7CA2-1DA2B6295FC8}"/>
              </a:ext>
            </a:extLst>
          </p:cNvPr>
          <p:cNvCxnSpPr>
            <a:cxnSpLocks/>
          </p:cNvCxnSpPr>
          <p:nvPr/>
        </p:nvCxnSpPr>
        <p:spPr>
          <a:xfrm>
            <a:off x="7672388" y="2033190"/>
            <a:ext cx="616569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72109CDB-BBA5-FF28-6234-87F5EC23C158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>
            <a:off x="6296129" y="966620"/>
            <a:ext cx="1216696" cy="5909553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811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2F156-3F21-2B00-0739-92E9D3CE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9E0941C-C4A8-2DC5-E21B-2C4F15517C99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강화 방어 스킬 </a:t>
            </a:r>
            <a:r>
              <a:rPr lang="ko-KR" altLang="en-US" sz="2400" dirty="0"/>
              <a:t>시곗바늘 활성화</a:t>
            </a:r>
            <a:endParaRPr lang="en-US" altLang="ko-KR" sz="2400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4E33525-0BB4-BF1F-965D-D4CE94D5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988090"/>
              </p:ext>
            </p:extLst>
          </p:nvPr>
        </p:nvGraphicFramePr>
        <p:xfrm>
          <a:off x="3931729" y="3907063"/>
          <a:ext cx="707580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580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</a:tblGrid>
              <a:tr h="883439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전투 시작 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변환한 스킬에 해당 하는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비활성화 상태일 경우 활성화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전투 시작 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대상이 보유한 진동 유형 변환한 스킬에 해당 하는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기록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사용시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변환한 스킬에 해당 하는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활성화 상태일 경우 코인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+5.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전투 종료 시</a:t>
                      </a:r>
                      <a:r>
                        <a:rPr lang="en-US" altLang="ko-KR" sz="1200" b="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시곗바늘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분침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초침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】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모두 활성화 상태이면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                 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턴 동안 위쪽 슬롯에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]-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정지된 시간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 생성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해당 스킬은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턴 후 소멸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적중시</a:t>
                      </a:r>
                      <a:r>
                        <a:rPr lang="en-US" altLang="ko-KR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]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C00000"/>
                          </a:solidFill>
                        </a:rPr>
                        <a:t>파괴 불가 코인</a:t>
                      </a:r>
                      <a:endParaRPr lang="en-US" altLang="ko-KR" sz="12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42429C-46AA-EABF-CD6C-CCA6B4A4C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945873"/>
              </p:ext>
            </p:extLst>
          </p:nvPr>
        </p:nvGraphicFramePr>
        <p:xfrm>
          <a:off x="1265547" y="3556543"/>
          <a:ext cx="248031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55">
                  <a:extLst>
                    <a:ext uri="{9D8B030D-6E8A-4147-A177-3AD203B41FA5}">
                      <a16:colId xmlns:a16="http://schemas.microsoft.com/office/drawing/2014/main" val="3903090293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4182308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유형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none" dirty="0">
                          <a:solidFill>
                            <a:schemeClr val="tx1"/>
                          </a:solidFill>
                        </a:rPr>
                        <a:t>강화 방어</a:t>
                      </a:r>
                      <a:endParaRPr lang="en-US" altLang="ko-KR" sz="1600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84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죄악 속성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 우울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477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수량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개별 생성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1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스킬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8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코인 숫자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+6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(1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3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21369"/>
                  </a:ext>
                </a:extLst>
              </a:tr>
            </a:tbl>
          </a:graphicData>
        </a:graphic>
      </p:graphicFrame>
      <p:pic>
        <p:nvPicPr>
          <p:cNvPr id="23" name="그림 22" descr="그래픽, 클립아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F20131-3207-2808-2C9C-DEA9F64BB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834" y="3958707"/>
            <a:ext cx="223812" cy="192289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DA33A41D-BD09-B4CB-3566-6CA01B22D737}"/>
              </a:ext>
            </a:extLst>
          </p:cNvPr>
          <p:cNvGrpSpPr/>
          <p:nvPr/>
        </p:nvGrpSpPr>
        <p:grpSpPr>
          <a:xfrm>
            <a:off x="901700" y="1666314"/>
            <a:ext cx="10388600" cy="1444888"/>
            <a:chOff x="-3447900" y="69818"/>
            <a:chExt cx="19087800" cy="2654806"/>
          </a:xfrm>
        </p:grpSpPr>
        <p:pic>
          <p:nvPicPr>
            <p:cNvPr id="6" name="그림 5" descr="만화 영화, 스케치, 일러스트레이션, 여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C58AA68-A611-8BDA-47C8-58F925942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447900" y="69819"/>
              <a:ext cx="6096000" cy="26548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그림 7" descr="아니메, 만화 영화, 스케치, 일러스트레이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F06C330-F2FF-A043-DABC-A36110968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000" y="69818"/>
              <a:ext cx="6096000" cy="26548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그림 9" descr="만화 영화, 스케치, 일러스트레이션, 아니메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6045062-0337-E946-BB0B-939FBB2E4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43900" y="69819"/>
              <a:ext cx="6096000" cy="26548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0FBFAE0-05BA-12E4-E297-F16F90C71113}"/>
              </a:ext>
            </a:extLst>
          </p:cNvPr>
          <p:cNvGrpSpPr/>
          <p:nvPr/>
        </p:nvGrpSpPr>
        <p:grpSpPr>
          <a:xfrm>
            <a:off x="1852938" y="3153727"/>
            <a:ext cx="1415292" cy="295460"/>
            <a:chOff x="6197194" y="3105975"/>
            <a:chExt cx="1021662" cy="213285"/>
          </a:xfrm>
        </p:grpSpPr>
        <p:sp>
          <p:nvSpPr>
            <p:cNvPr id="13" name="화살표: 왼쪽/오른쪽 12">
              <a:extLst>
                <a:ext uri="{FF2B5EF4-FFF2-40B4-BE49-F238E27FC236}">
                  <a16:creationId xmlns:a16="http://schemas.microsoft.com/office/drawing/2014/main" id="{88F9B60F-5D9D-EF1F-D643-6A607FAA3CDB}"/>
                </a:ext>
              </a:extLst>
            </p:cNvPr>
            <p:cNvSpPr/>
            <p:nvPr/>
          </p:nvSpPr>
          <p:spPr>
            <a:xfrm>
              <a:off x="6197196" y="3105975"/>
              <a:ext cx="1021660" cy="213285"/>
            </a:xfrm>
            <a:prstGeom prst="leftRightArrow">
              <a:avLst>
                <a:gd name="adj1" fmla="val 100000"/>
                <a:gd name="adj2" fmla="val 5000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96DA73A-3727-538F-E063-58BE14A6E5D3}"/>
                </a:ext>
              </a:extLst>
            </p:cNvPr>
            <p:cNvSpPr txBox="1"/>
            <p:nvPr/>
          </p:nvSpPr>
          <p:spPr>
            <a:xfrm>
              <a:off x="6197194" y="3124768"/>
              <a:ext cx="1021662" cy="188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시침 방어 형태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265EAD4-D4E1-2929-6999-C368F188DF04}"/>
              </a:ext>
            </a:extLst>
          </p:cNvPr>
          <p:cNvGrpSpPr/>
          <p:nvPr/>
        </p:nvGrpSpPr>
        <p:grpSpPr>
          <a:xfrm>
            <a:off x="5388353" y="3153727"/>
            <a:ext cx="1415292" cy="295460"/>
            <a:chOff x="6197194" y="3105975"/>
            <a:chExt cx="1021662" cy="213285"/>
          </a:xfrm>
        </p:grpSpPr>
        <p:sp>
          <p:nvSpPr>
            <p:cNvPr id="17" name="화살표: 왼쪽/오른쪽 16">
              <a:extLst>
                <a:ext uri="{FF2B5EF4-FFF2-40B4-BE49-F238E27FC236}">
                  <a16:creationId xmlns:a16="http://schemas.microsoft.com/office/drawing/2014/main" id="{9A0B2073-0568-9280-719D-CDA428B52A12}"/>
                </a:ext>
              </a:extLst>
            </p:cNvPr>
            <p:cNvSpPr/>
            <p:nvPr/>
          </p:nvSpPr>
          <p:spPr>
            <a:xfrm>
              <a:off x="6197196" y="3105975"/>
              <a:ext cx="1021660" cy="213285"/>
            </a:xfrm>
            <a:prstGeom prst="leftRightArrow">
              <a:avLst>
                <a:gd name="adj1" fmla="val 100000"/>
                <a:gd name="adj2" fmla="val 5000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6EB73F-A212-ED1A-9555-6AF81AB4583E}"/>
                </a:ext>
              </a:extLst>
            </p:cNvPr>
            <p:cNvSpPr txBox="1"/>
            <p:nvPr/>
          </p:nvSpPr>
          <p:spPr>
            <a:xfrm>
              <a:off x="6197194" y="3124768"/>
              <a:ext cx="1021662" cy="188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분침 방어 형태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CE36FA3-998A-4D2D-3544-3B0D7DC25D42}"/>
              </a:ext>
            </a:extLst>
          </p:cNvPr>
          <p:cNvGrpSpPr/>
          <p:nvPr/>
        </p:nvGrpSpPr>
        <p:grpSpPr>
          <a:xfrm>
            <a:off x="8923767" y="3153727"/>
            <a:ext cx="1415292" cy="295460"/>
            <a:chOff x="6197194" y="3105975"/>
            <a:chExt cx="1021662" cy="213285"/>
          </a:xfrm>
        </p:grpSpPr>
        <p:sp>
          <p:nvSpPr>
            <p:cNvPr id="20" name="화살표: 왼쪽/오른쪽 19">
              <a:extLst>
                <a:ext uri="{FF2B5EF4-FFF2-40B4-BE49-F238E27FC236}">
                  <a16:creationId xmlns:a16="http://schemas.microsoft.com/office/drawing/2014/main" id="{9D8F503C-B18C-14E8-E6FE-00DC4F64E3F1}"/>
                </a:ext>
              </a:extLst>
            </p:cNvPr>
            <p:cNvSpPr/>
            <p:nvPr/>
          </p:nvSpPr>
          <p:spPr>
            <a:xfrm>
              <a:off x="6197196" y="3105975"/>
              <a:ext cx="1021660" cy="213285"/>
            </a:xfrm>
            <a:prstGeom prst="leftRightArrow">
              <a:avLst>
                <a:gd name="adj1" fmla="val 100000"/>
                <a:gd name="adj2" fmla="val 5000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C4D3ECB-939E-3A32-E36C-EE5000669F39}"/>
                </a:ext>
              </a:extLst>
            </p:cNvPr>
            <p:cNvSpPr txBox="1"/>
            <p:nvPr/>
          </p:nvSpPr>
          <p:spPr>
            <a:xfrm>
              <a:off x="6197194" y="3124768"/>
              <a:ext cx="1021662" cy="1888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bg1">
                      <a:lumMod val="95000"/>
                    </a:schemeClr>
                  </a:solidFill>
                </a:rPr>
                <a:t>초침 방어 형태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1392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8917-2852-D90A-2D24-C383F694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43E18B3-EEC2-2963-6EA8-947936C2C412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스킬 </a:t>
            </a:r>
            <a:r>
              <a:rPr lang="en-US" altLang="ko-KR" sz="3200" dirty="0"/>
              <a:t>1 </a:t>
            </a:r>
            <a:r>
              <a:rPr lang="en-US" altLang="ko-KR" sz="2400" dirty="0"/>
              <a:t>[</a:t>
            </a:r>
            <a:r>
              <a:rPr lang="ko-KR" altLang="en-US" sz="2400" dirty="0"/>
              <a:t>시침</a:t>
            </a:r>
            <a:r>
              <a:rPr lang="en-US" altLang="ko-KR" sz="2400" dirty="0"/>
              <a:t>] </a:t>
            </a:r>
            <a:r>
              <a:rPr lang="ko-KR" altLang="en-US" sz="2400" dirty="0"/>
              <a:t>도약 강타</a:t>
            </a:r>
            <a:r>
              <a:rPr lang="en-US" altLang="ko-KR" sz="2400" dirty="0"/>
              <a:t>-</a:t>
            </a:r>
            <a:r>
              <a:rPr lang="ko-KR" altLang="en-US" sz="2400" dirty="0"/>
              <a:t>동작 상세 설명 및 기획의도</a:t>
            </a:r>
            <a:endParaRPr lang="en-US" altLang="ko-KR" sz="2400" dirty="0"/>
          </a:p>
        </p:txBody>
      </p:sp>
      <p:pic>
        <p:nvPicPr>
          <p:cNvPr id="3" name="그림 2" descr="만화 영화, 일러스트레이션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AC6BF3-E7C1-A9A9-E099-8D7B8E30FD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586" y="1268413"/>
            <a:ext cx="3280828" cy="276887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BC2285F-EEF8-1AAB-8245-0F2630F85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225022"/>
              </p:ext>
            </p:extLst>
          </p:nvPr>
        </p:nvGraphicFramePr>
        <p:xfrm>
          <a:off x="1544477" y="4539988"/>
          <a:ext cx="910304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043">
                  <a:extLst>
                    <a:ext uri="{9D8B030D-6E8A-4147-A177-3AD203B41FA5}">
                      <a16:colId xmlns:a16="http://schemas.microsoft.com/office/drawing/2014/main" val="3203936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기획의도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91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각 스킬로 적을 공격하지 않고 시곗바늘을 활성화 할 수 있는 수단이자 적에게 부여되어 있는 진동 유형을 선택하여 시곗바늘에 기록할 수 있으며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모든 시곗바늘이 활성화 되어 있을 경우 다음 턴에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‘[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정지된 시간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일시적으로 생성하여 강한 공격을 할 수 있게 기획하였다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또한 해당 효과로 생성된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‘[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영속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정지된 시간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사용하지 않을 경우 시곗바늘이 비활성화 돼지 않기 때문에 플레이어가 원하지 않을 경우 사용하지 않을 수 있게 하였다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89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664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3669D-B035-097C-E189-E5401D61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FFD6712-FC8A-7828-799F-4278B684802C}"/>
              </a:ext>
            </a:extLst>
          </p:cNvPr>
          <p:cNvSpPr txBox="1">
            <a:spLocks/>
          </p:cNvSpPr>
          <p:nvPr/>
        </p:nvSpPr>
        <p:spPr>
          <a:xfrm>
            <a:off x="2724417" y="2826553"/>
            <a:ext cx="6743166" cy="1204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4800" dirty="0"/>
              <a:t>Q &amp; A</a:t>
            </a:r>
            <a:endParaRPr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194538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10381</TotalTime>
  <Pages>7</Pages>
  <Words>1862</Words>
  <Characters>0</Characters>
  <Application>Microsoft Office PowerPoint</Application>
  <DocSecurity>0</DocSecurity>
  <PresentationFormat>와이드스크린</PresentationFormat>
  <Lines>0</Lines>
  <Paragraphs>259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Limbus Company 캐릭터(인격) 기획서 ■■■■ E.G.O::영속 - 파우스트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yjk0401</dc:creator>
  <cp:lastModifiedBy>정근 윤</cp:lastModifiedBy>
  <cp:revision>4808</cp:revision>
  <dcterms:modified xsi:type="dcterms:W3CDTF">2025-10-06T23:43:38Z</dcterms:modified>
  <cp:version>9.103.97.45139</cp:version>
</cp:coreProperties>
</file>